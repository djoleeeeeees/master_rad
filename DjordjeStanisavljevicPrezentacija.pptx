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24D"/>
    <a:srgbClr val="EF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12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CA848-548C-4C12-B453-B4531F4D5CC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92391-1AF5-4A32-987E-08D9B915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81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92391-1AF5-4A32-987E-08D9B915F9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35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92391-1AF5-4A32-987E-08D9B915F92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86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92391-1AF5-4A32-987E-08D9B915F9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6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5C1F-ABBA-1F99-5219-60B11EB6A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A832D-F08B-4AC5-60BF-A6899C3DB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3FE83-6A13-DDAE-B546-08218D2E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52F9-3197-4B9E-A830-906CC2A242B1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CD7D3-13C3-E5C4-CAB8-FF096503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03A31-5A6D-FF02-8A6E-44C5B539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8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D04B-23FF-970E-DC82-2538D251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F003-66B7-956F-CE4F-3BAC7F373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83B84-DE49-59D1-2A30-CAE51BAA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9812-026C-4982-B56D-4515F5D78F1E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777E7-0AAA-6C02-E14F-6838A4DB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5B1B-F9EC-9282-6E87-7CB25551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5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8E1F-9C88-844B-A89A-1F270325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1B1CD-EF50-A198-7ABF-2F80E4924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04875-5054-DCEC-1E25-C212207C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657D-7952-4E34-9262-DD42EA99F0BF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C5786-F061-362B-8540-090B5D8E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C13E4-6331-5B11-B09D-665CEF89D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013B-0C3A-B8EB-37A0-3E8BCB9C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7FBB3-FAB4-AF80-1BA8-E6BC6851A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C513F-AB0D-E2E6-EF3B-CEEC72C0B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660B9-3E89-05A0-6CC9-7DC51F26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52D5-E91F-4CD2-95B0-DFD1B25EE806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776F7-0AC4-B52E-265C-D697076E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D580E-B02D-80C0-8AD7-0C5806FB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6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B29A-2888-0DB7-4A9A-FE8C6ABC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D75AF-83CB-9173-141A-A5AFC28BD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B42BA-F6EA-EDA2-106F-EF6E01ED6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87DAA-88B9-2F3E-7388-860B8742C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4E738-B735-F409-18F7-D636E33B7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F81F15-9D6F-DBC9-2E73-ECD90831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54DA5-14FE-467C-B4C2-D1E4563F0751}" type="datetime1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A1521-FAFC-6676-ABE9-C070B439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DB523-4FF1-A533-7C9C-2D1F4AD3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11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2624-8704-C90F-D0E4-CF1BA9C1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7946F-97DC-44C1-DD5E-E99CA921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E183-1F03-4D0B-946F-8A332876829B}" type="datetime1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A28BE-4A40-3C26-D0F3-A0F25455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C3E9D-8DD5-3B16-41F8-802BC122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7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4B9F7-3B51-E794-F308-13272DA9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0FCD-14DE-41E2-96C4-BB776289525C}" type="datetime1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15B1D-090D-188E-12DA-C1DAFA97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312EB-6DEE-FEAC-AD1D-BA34C3BA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9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02DB-5115-6C6D-502F-7B6B8900A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61A5-7DB1-2F8B-3868-E2C1E4D07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45F6-434F-7970-E962-F73301EB7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3E5A2-5213-FF9A-BC91-3A31404B3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35CE8-9745-40C4-8A7C-11F07F3FA67C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71E9C-EA36-B736-D658-BEFA9084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C9FF3-4CC7-02A4-FA14-8B22A5A7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2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CFB3-F447-9DD3-124F-D16663C4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775CD-40EB-6A41-3DCE-F91C37481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43512-409E-6F91-1FDE-B85540270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8D71A-410C-48AB-BFED-5999B3FC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995C-CCB0-4043-930A-6901B1A6D586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23664-D540-6551-2514-24E672C7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84CB8-B5F5-1C4C-5F41-B92D7B68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4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B8ED-5CB5-BAA0-86E9-7C2584AD8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4B20A-9328-ED44-2E2A-0AB0C37FE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5E846-3B35-59B5-2211-E3904164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6F19-6363-46FE-8702-EF30991115FD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F8475-6D52-236C-8F54-AE2EDB5E1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EB713-CD4E-C1C0-46DE-81B93AA0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1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4D7BF-07BF-4528-B967-1B2F8B8B3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0A623-45FE-5603-CA24-B1953D749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53F1-8BE9-AC22-5BD3-5CAE8E51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F9B-EA9B-4B76-BE05-25F69BA06946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BF82B-1E09-44DF-21A4-1DC97426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92E6B-64D3-AED2-3ACF-63BD6D60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0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BBDE2-0B7D-47CE-CB27-0EC37101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12256-0EEF-6FF4-3AEB-C61A5443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2ADB4-418A-C753-02DA-674F202B8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8A047-D982-4DEC-93A3-1F6D2A869243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E1A9F-1A05-EA48-B58F-6947F2DD7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7F80-B885-D0C3-1A01-C1BA2C70D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813B0-3C8B-423C-B9E6-2F7FFBB1F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8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joleeeeeees.github.io/master_rad/interakt_prem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21BEA1CD-F9AC-6A67-FC25-26EAF1C2B8F5}"/>
              </a:ext>
            </a:extLst>
          </p:cNvPr>
          <p:cNvSpPr txBox="1">
            <a:spLocks/>
          </p:cNvSpPr>
          <p:nvPr/>
        </p:nvSpPr>
        <p:spPr>
          <a:xfrm>
            <a:off x="3601887" y="1781476"/>
            <a:ext cx="4793673" cy="9856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Cyrl-RS" sz="3200" b="1">
                <a:solidFill>
                  <a:srgbClr val="17324D"/>
                </a:solidFill>
                <a:latin typeface="+mn-lt"/>
              </a:rPr>
              <a:t>МАСТЕР РАД</a:t>
            </a:r>
            <a:endParaRPr lang="en-US" sz="3200" b="1" dirty="0">
              <a:solidFill>
                <a:srgbClr val="17324D"/>
              </a:solidFill>
              <a:latin typeface="+mn-lt"/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0DD23FF-1ABB-9975-5C96-18816F7AFE4C}"/>
              </a:ext>
            </a:extLst>
          </p:cNvPr>
          <p:cNvSpPr txBox="1">
            <a:spLocks/>
          </p:cNvSpPr>
          <p:nvPr/>
        </p:nvSpPr>
        <p:spPr>
          <a:xfrm>
            <a:off x="838199" y="2842796"/>
            <a:ext cx="10515600" cy="117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17324D"/>
                </a:solidFill>
              </a:rPr>
              <a:t>Анализа утицаја локације на цене станова у Београду применом метода машинског учења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28D2AAA-0A5D-A40A-0057-89F7E3A60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71" y="302176"/>
            <a:ext cx="1332902" cy="1332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06750F2-36D5-3E44-3078-3A06CFFBB78A}"/>
              </a:ext>
            </a:extLst>
          </p:cNvPr>
          <p:cNvSpPr txBox="1"/>
          <p:nvPr/>
        </p:nvSpPr>
        <p:spPr>
          <a:xfrm>
            <a:off x="914399" y="4581728"/>
            <a:ext cx="366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КАНДИДАТ</a:t>
            </a:r>
            <a:endParaRPr lang="sr-Cyrl-RS" noProof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D3AAD3-9A36-9F9A-EC51-1303E22F4E4D}"/>
              </a:ext>
            </a:extLst>
          </p:cNvPr>
          <p:cNvSpPr txBox="1"/>
          <p:nvPr/>
        </p:nvSpPr>
        <p:spPr>
          <a:xfrm>
            <a:off x="914399" y="5076524"/>
            <a:ext cx="3667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16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Ђорђе Станисављевић 1506/24</a:t>
            </a:r>
            <a:endParaRPr lang="sr-Cyrl-RS" sz="1600" noProof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058165-7DBC-406A-BD4D-2597F471886E}"/>
              </a:ext>
            </a:extLst>
          </p:cNvPr>
          <p:cNvSpPr txBox="1"/>
          <p:nvPr/>
        </p:nvSpPr>
        <p:spPr>
          <a:xfrm>
            <a:off x="7769156" y="4581728"/>
            <a:ext cx="366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r-Cyrl-RS" b="1" noProof="1">
                <a:solidFill>
                  <a:srgbClr val="17324D"/>
                </a:solidFill>
              </a:rPr>
              <a:t>МЕНТОР</a:t>
            </a:r>
            <a:endParaRPr lang="sr-Cyrl-RS" noProof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91B1E5-6108-9F07-2977-6693E563956D}"/>
              </a:ext>
            </a:extLst>
          </p:cNvPr>
          <p:cNvSpPr txBox="1"/>
          <p:nvPr/>
        </p:nvSpPr>
        <p:spPr>
          <a:xfrm>
            <a:off x="5856050" y="5076524"/>
            <a:ext cx="5580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r-Cyrl-RS" sz="16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ван. проф. др Милан Килибарда, дипл. инж. геод.</a:t>
            </a:r>
            <a:endParaRPr lang="sr-Cyrl-RS" sz="1600" noProof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B42291-B143-1132-9870-042A385C29B7}"/>
              </a:ext>
            </a:extLst>
          </p:cNvPr>
          <p:cNvSpPr txBox="1"/>
          <p:nvPr/>
        </p:nvSpPr>
        <p:spPr>
          <a:xfrm>
            <a:off x="1739040" y="302176"/>
            <a:ext cx="27356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noProof="1">
                <a:solidFill>
                  <a:schemeClr val="bg1">
                    <a:lumMod val="50000"/>
                  </a:schemeClr>
                </a:solidFill>
                <a:ea typeface="Aptos" pitchFamily="34" charset="-122"/>
                <a:cs typeface="Aptos" pitchFamily="34" charset="-120"/>
              </a:rPr>
              <a:t>УНИВЕРЗИТЕТ У БЕОГРАДУ</a:t>
            </a:r>
          </a:p>
          <a:p>
            <a:r>
              <a:rPr lang="ru-RU" sz="1400" noProof="1">
                <a:solidFill>
                  <a:schemeClr val="bg1">
                    <a:lumMod val="50000"/>
                  </a:schemeClr>
                </a:solidFill>
                <a:ea typeface="Aptos" pitchFamily="34" charset="-122"/>
                <a:cs typeface="Aptos" pitchFamily="34" charset="-120"/>
              </a:rPr>
              <a:t>Грађевински факултет</a:t>
            </a:r>
          </a:p>
          <a:p>
            <a:r>
              <a:rPr lang="ru-RU" sz="1400" noProof="1">
                <a:solidFill>
                  <a:schemeClr val="bg1">
                    <a:lumMod val="50000"/>
                  </a:schemeClr>
                </a:solidFill>
                <a:ea typeface="Aptos" pitchFamily="34" charset="-122"/>
                <a:cs typeface="Aptos" pitchFamily="34" charset="-120"/>
              </a:rPr>
              <a:t>Катедра за геодезију и геоинформатику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DF61B8-310C-2B63-09AA-12B388E80D1C}"/>
              </a:ext>
            </a:extLst>
          </p:cNvPr>
          <p:cNvSpPr txBox="1"/>
          <p:nvPr/>
        </p:nvSpPr>
        <p:spPr>
          <a:xfrm>
            <a:off x="4883284" y="5983197"/>
            <a:ext cx="1514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1600" b="1" noProof="1">
                <a:solidFill>
                  <a:srgbClr val="243746"/>
                </a:solidFill>
              </a:rPr>
              <a:t>Београд, 2026.</a:t>
            </a:r>
            <a:endParaRPr lang="sr-Cyrl-RS" sz="1600" b="1" noProof="1"/>
          </a:p>
        </p:txBody>
      </p:sp>
    </p:spTree>
    <p:extLst>
      <p:ext uri="{BB962C8B-B14F-4D97-AF65-F5344CB8AC3E}">
        <p14:creationId xmlns:p14="http://schemas.microsoft.com/office/powerpoint/2010/main" val="97806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F42DFAE-969F-F5DA-AA79-D0F41A41F7F8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rgbClr val="17324D"/>
                </a:solidFill>
              </a:rPr>
              <a:t>Структура излагања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F4D89-7531-827C-7261-1CE18CBC7AC9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САДРЖАЈ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3A2973-B3D4-DF4F-6ACB-56BB381471E0}"/>
              </a:ext>
            </a:extLst>
          </p:cNvPr>
          <p:cNvSpPr/>
          <p:nvPr/>
        </p:nvSpPr>
        <p:spPr>
          <a:xfrm>
            <a:off x="632298" y="1673157"/>
            <a:ext cx="3239311" cy="1322962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01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dirty="0">
                <a:solidFill>
                  <a:srgbClr val="17324D"/>
                </a:solidFill>
              </a:rPr>
              <a:t>Проблеми и циљ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206867E-965B-E4A1-8BF3-865B24BE898F}"/>
              </a:ext>
            </a:extLst>
          </p:cNvPr>
          <p:cNvSpPr/>
          <p:nvPr/>
        </p:nvSpPr>
        <p:spPr>
          <a:xfrm>
            <a:off x="4403387" y="1673157"/>
            <a:ext cx="3239311" cy="1322962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02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dirty="0">
                <a:solidFill>
                  <a:srgbClr val="17324D"/>
                </a:solidFill>
              </a:rPr>
              <a:t>Припрема података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EF948C9-9E7C-BD74-7D94-018195A4E729}"/>
              </a:ext>
            </a:extLst>
          </p:cNvPr>
          <p:cNvSpPr/>
          <p:nvPr/>
        </p:nvSpPr>
        <p:spPr>
          <a:xfrm>
            <a:off x="8174476" y="1673157"/>
            <a:ext cx="3239311" cy="1322962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03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dirty="0">
                <a:solidFill>
                  <a:srgbClr val="17324D"/>
                </a:solidFill>
              </a:rPr>
              <a:t>Дескриптивна и просторна анализа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76CACB1-00D8-2B2F-27DD-D7CC19CF4495}"/>
              </a:ext>
            </a:extLst>
          </p:cNvPr>
          <p:cNvSpPr/>
          <p:nvPr/>
        </p:nvSpPr>
        <p:spPr>
          <a:xfrm>
            <a:off x="632298" y="3576535"/>
            <a:ext cx="3239311" cy="1322962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04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dirty="0">
                <a:solidFill>
                  <a:srgbClr val="17324D"/>
                </a:solidFill>
              </a:rPr>
              <a:t>Моделирањ</a:t>
            </a:r>
            <a:r>
              <a:rPr lang="sr-Latn-RS" sz="1600" dirty="0">
                <a:solidFill>
                  <a:srgbClr val="17324D"/>
                </a:solidFill>
              </a:rPr>
              <a:t>e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7A6D3CE-1F33-3E2E-BF3C-158D6B3D65A5}"/>
              </a:ext>
            </a:extLst>
          </p:cNvPr>
          <p:cNvSpPr/>
          <p:nvPr/>
        </p:nvSpPr>
        <p:spPr>
          <a:xfrm>
            <a:off x="4403387" y="3576535"/>
            <a:ext cx="3239311" cy="1322962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05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dirty="0">
                <a:solidFill>
                  <a:srgbClr val="17324D"/>
                </a:solidFill>
              </a:rPr>
              <a:t>Локацијски премијум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AB548AC-6635-8367-12E0-8DCAD7D68F28}"/>
              </a:ext>
            </a:extLst>
          </p:cNvPr>
          <p:cNvSpPr/>
          <p:nvPr/>
        </p:nvSpPr>
        <p:spPr>
          <a:xfrm>
            <a:off x="8174476" y="3576535"/>
            <a:ext cx="3239311" cy="1322962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06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dirty="0">
                <a:solidFill>
                  <a:srgbClr val="17324D"/>
                </a:solidFill>
              </a:rPr>
              <a:t>Закључак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CCFFA59D-2F67-B3A3-0E36-76D7D44C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82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5E00F-4C72-B628-8759-A7C6D695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1106D2-2FB9-7727-C2FB-E18314BCD0B3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Зашто је локација неопходна у процени цене некретнина?</a:t>
            </a:r>
            <a:endParaRPr lang="sr-Cyrl-RS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C7D4A4-ED47-9569-A03C-4D8CB973EA05}"/>
              </a:ext>
            </a:extLst>
          </p:cNvPr>
          <p:cNvSpPr txBox="1"/>
          <p:nvPr/>
        </p:nvSpPr>
        <p:spPr>
          <a:xfrm>
            <a:off x="333170" y="230921"/>
            <a:ext cx="3058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</a:rPr>
              <a:t>ПРОБЛЕМИ И ЦИЉ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EABE56-2030-C604-1181-EF567F5CF6A8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4654D1-4175-9D4D-C19D-E385250F203C}"/>
              </a:ext>
            </a:extLst>
          </p:cNvPr>
          <p:cNvSpPr/>
          <p:nvPr/>
        </p:nvSpPr>
        <p:spPr>
          <a:xfrm>
            <a:off x="4463050" y="1886944"/>
            <a:ext cx="3570051" cy="1889481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Традиционални приступи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ru-RU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Традиционални приступи за процену вредности некретнина често захтевају појединачну анализу, класичне статистичке методе, могу имати ограничења у моделирању сложених нелинеарних односа. </a:t>
            </a:r>
            <a:endParaRPr lang="sr-Cyrl-RS" sz="1400" noProof="1">
              <a:solidFill>
                <a:srgbClr val="243746"/>
              </a:solidFill>
              <a:ea typeface="Aptos" pitchFamily="34" charset="-122"/>
              <a:cs typeface="Aptos" pitchFamily="34" charset="-12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D96DF5-94A4-5755-ACA7-206DE6A4181A}"/>
              </a:ext>
            </a:extLst>
          </p:cNvPr>
          <p:cNvSpPr/>
          <p:nvPr/>
        </p:nvSpPr>
        <p:spPr>
          <a:xfrm>
            <a:off x="714334" y="1886944"/>
            <a:ext cx="3570051" cy="1889481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Просторна компонента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Приступачност одређеном градском садржају значајно утиче на формирање цене на тржишту.</a:t>
            </a:r>
            <a:endParaRPr lang="sr-Cyrl-RS" sz="1400" noProof="1"/>
          </a:p>
          <a:p>
            <a:endParaRPr lang="sr-Cyrl-RS" sz="1600" noProof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7180E0-6D54-CC0E-A489-9F5FE7A0BF79}"/>
              </a:ext>
            </a:extLst>
          </p:cNvPr>
          <p:cNvSpPr/>
          <p:nvPr/>
        </p:nvSpPr>
        <p:spPr>
          <a:xfrm>
            <a:off x="8211766" y="1865392"/>
            <a:ext cx="3570051" cy="1889483"/>
          </a:xfrm>
          <a:prstGeom prst="roundRect">
            <a:avLst/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Нови приступ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Комбиновање геоинформатике и машинског учења омогућава креирање модела за предвиђање цена и испитивање локацијског премијума.</a:t>
            </a:r>
            <a:endParaRPr lang="sr-Cyrl-RS" sz="1400" noProof="1"/>
          </a:p>
          <a:p>
            <a:endParaRPr lang="sr-Cyrl-RS" sz="1600" noProof="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BD9AD-904D-B497-D5F2-D7F6426845F1}"/>
              </a:ext>
            </a:extLst>
          </p:cNvPr>
          <p:cNvSpPr/>
          <p:nvPr/>
        </p:nvSpPr>
        <p:spPr>
          <a:xfrm>
            <a:off x="410183" y="4474015"/>
            <a:ext cx="11371634" cy="1187484"/>
          </a:xfrm>
          <a:prstGeom prst="roundRect">
            <a:avLst/>
          </a:prstGeom>
          <a:solidFill>
            <a:srgbClr val="17324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rtlCol="0" anchor="ctr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ГЛАВНИ ЦИЉ:</a:t>
            </a:r>
            <a:endParaRPr lang="sr-Cyrl-RS" sz="1600" b="1" noProof="1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Колико локација утиче на формирање цене станова на тржишту некретнина?</a:t>
            </a:r>
            <a:endParaRPr lang="sr-Cyrl-RS" sz="1600" noProof="1"/>
          </a:p>
        </p:txBody>
      </p:sp>
    </p:spTree>
    <p:extLst>
      <p:ext uri="{BB962C8B-B14F-4D97-AF65-F5344CB8AC3E}">
        <p14:creationId xmlns:p14="http://schemas.microsoft.com/office/powerpoint/2010/main" val="190049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 animBg="1"/>
      <p:bldP spid="10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40669-251A-A1B8-6386-C6393B95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EE36BF-14E4-1157-F457-16BA16734559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Ток истраживања</a:t>
            </a:r>
            <a:endParaRPr lang="sr-Cyrl-R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DE653A-FB7E-12E6-9234-2DC8BAD9B060}"/>
              </a:ext>
            </a:extLst>
          </p:cNvPr>
          <p:cNvSpPr txBox="1"/>
          <p:nvPr/>
        </p:nvSpPr>
        <p:spPr>
          <a:xfrm>
            <a:off x="333171" y="230921"/>
            <a:ext cx="2965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</a:rPr>
              <a:t>ПРОБЛЕМИ И ЦИЉ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F21B2E-A692-891D-7CD2-CB7903EBDCBC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8564D4-57E7-A102-736B-054A912A5C1C}"/>
              </a:ext>
            </a:extLst>
          </p:cNvPr>
          <p:cNvSpPr txBox="1"/>
          <p:nvPr/>
        </p:nvSpPr>
        <p:spPr>
          <a:xfrm>
            <a:off x="1087552" y="2096995"/>
            <a:ext cx="3725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spc="600" dirty="0">
                <a:solidFill>
                  <a:srgbClr val="17324D"/>
                </a:solidFill>
              </a:rPr>
              <a:t>Припрема података</a:t>
            </a:r>
            <a:endParaRPr lang="ru-RU" sz="2000" b="1" spc="600" dirty="0">
              <a:solidFill>
                <a:srgbClr val="1732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447F9-7B26-3A51-ADE1-089A4ACA5ABC}"/>
              </a:ext>
            </a:extLst>
          </p:cNvPr>
          <p:cNvSpPr txBox="1"/>
          <p:nvPr/>
        </p:nvSpPr>
        <p:spPr>
          <a:xfrm>
            <a:off x="4840780" y="2100354"/>
            <a:ext cx="6251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spc="600" dirty="0">
                <a:solidFill>
                  <a:srgbClr val="17324D"/>
                </a:solidFill>
              </a:rPr>
              <a:t>Анализа података</a:t>
            </a:r>
            <a:endParaRPr lang="ru-RU" sz="2000" b="1" spc="600" dirty="0">
              <a:solidFill>
                <a:srgbClr val="17324D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6C0C659-6EAA-1246-E00E-287A33713F17}"/>
              </a:ext>
            </a:extLst>
          </p:cNvPr>
          <p:cNvSpPr txBox="1">
            <a:spLocks/>
          </p:cNvSpPr>
          <p:nvPr/>
        </p:nvSpPr>
        <p:spPr>
          <a:xfrm>
            <a:off x="1075981" y="5069057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Cyrl-RS" sz="20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Циљна променљива у анализи: цена оглашених станова по m².</a:t>
            </a:r>
            <a:endParaRPr lang="sr-Cyrl-RS" sz="2000" noProof="1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D98D92-552D-6542-EBF5-AFD0E8159813}"/>
              </a:ext>
            </a:extLst>
          </p:cNvPr>
          <p:cNvSpPr/>
          <p:nvPr/>
        </p:nvSpPr>
        <p:spPr>
          <a:xfrm>
            <a:off x="1258861" y="2651832"/>
            <a:ext cx="612843" cy="586204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/>
              <a:t>1</a:t>
            </a:r>
            <a:endParaRPr 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EC62C-5D8B-23B8-C3F6-25078AE79251}"/>
              </a:ext>
            </a:extLst>
          </p:cNvPr>
          <p:cNvSpPr txBox="1"/>
          <p:nvPr/>
        </p:nvSpPr>
        <p:spPr>
          <a:xfrm>
            <a:off x="966888" y="3403815"/>
            <a:ext cx="18119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sz="14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Web scraping, филтрирање, чишћење и конверзија података</a:t>
            </a:r>
            <a:endParaRPr lang="sr-Cyrl-RS" sz="1400" noProof="1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EC6815-A18E-E722-5CB6-54D62DB25FAD}"/>
              </a:ext>
            </a:extLst>
          </p:cNvPr>
          <p:cNvSpPr/>
          <p:nvPr/>
        </p:nvSpPr>
        <p:spPr>
          <a:xfrm>
            <a:off x="3035228" y="2651832"/>
            <a:ext cx="612843" cy="586204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/>
              <a:t>2</a:t>
            </a:r>
            <a:endParaRPr lang="en-US" sz="1400" b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FB318F-A101-F6DE-27AB-2F30EE5CEE8F}"/>
              </a:ext>
            </a:extLst>
          </p:cNvPr>
          <p:cNvSpPr/>
          <p:nvPr/>
        </p:nvSpPr>
        <p:spPr>
          <a:xfrm>
            <a:off x="4840780" y="2651832"/>
            <a:ext cx="612843" cy="586204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/>
              <a:t>3</a:t>
            </a:r>
            <a:endParaRPr lang="en-US" sz="1400" b="1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1DBAFB0-CEFE-0DBD-BCEE-2D1A2B55D316}"/>
              </a:ext>
            </a:extLst>
          </p:cNvPr>
          <p:cNvSpPr/>
          <p:nvPr/>
        </p:nvSpPr>
        <p:spPr>
          <a:xfrm>
            <a:off x="6489099" y="2651832"/>
            <a:ext cx="612843" cy="586204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/>
              <a:t>4</a:t>
            </a:r>
            <a:endParaRPr lang="en-US" sz="1400" b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657F2E-21BD-8773-FA77-E5784BC3B285}"/>
              </a:ext>
            </a:extLst>
          </p:cNvPr>
          <p:cNvSpPr/>
          <p:nvPr/>
        </p:nvSpPr>
        <p:spPr>
          <a:xfrm>
            <a:off x="8137418" y="2651832"/>
            <a:ext cx="612843" cy="586204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/>
              <a:t>5</a:t>
            </a:r>
            <a:endParaRPr lang="en-US" sz="1400" b="1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C487523-B1C0-96EF-7503-F555A5A778EB}"/>
              </a:ext>
            </a:extLst>
          </p:cNvPr>
          <p:cNvSpPr/>
          <p:nvPr/>
        </p:nvSpPr>
        <p:spPr>
          <a:xfrm>
            <a:off x="9785737" y="2651832"/>
            <a:ext cx="612843" cy="586204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/>
              <a:t>6</a:t>
            </a:r>
            <a:endParaRPr 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A47AA9-DC62-AEE8-4477-B88CAEABB071}"/>
              </a:ext>
            </a:extLst>
          </p:cNvPr>
          <p:cNvSpPr txBox="1"/>
          <p:nvPr/>
        </p:nvSpPr>
        <p:spPr>
          <a:xfrm>
            <a:off x="2944462" y="3403815"/>
            <a:ext cx="16107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sr-Cyrl-RS" sz="14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Геокодирање и креирање просторних предиктора</a:t>
            </a:r>
            <a:endParaRPr lang="sr-Cyrl-RS" sz="1400" noProof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B9926D-2265-CD42-068B-CB409CF018FF}"/>
              </a:ext>
            </a:extLst>
          </p:cNvPr>
          <p:cNvSpPr txBox="1"/>
          <p:nvPr/>
        </p:nvSpPr>
        <p:spPr>
          <a:xfrm>
            <a:off x="4813280" y="3403815"/>
            <a:ext cx="16107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sz="14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Дескриптивна и просторна анализа</a:t>
            </a:r>
            <a:endParaRPr lang="sr-Cyrl-RS" sz="1400" noProof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934E9A-40A4-AC72-F753-8D31A43B6B0E}"/>
              </a:ext>
            </a:extLst>
          </p:cNvPr>
          <p:cNvSpPr txBox="1"/>
          <p:nvPr/>
        </p:nvSpPr>
        <p:spPr>
          <a:xfrm>
            <a:off x="6451491" y="3403815"/>
            <a:ext cx="16107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sz="14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Анализа модела</a:t>
            </a:r>
            <a:endParaRPr lang="sr-Cyrl-RS" sz="1400" noProof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1F11DB-E04C-4B07-E125-66C6DF88C8EE}"/>
              </a:ext>
            </a:extLst>
          </p:cNvPr>
          <p:cNvSpPr txBox="1"/>
          <p:nvPr/>
        </p:nvSpPr>
        <p:spPr>
          <a:xfrm>
            <a:off x="8137419" y="3413861"/>
            <a:ext cx="1475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sz="14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Анализа просторне расподеле резидуала</a:t>
            </a:r>
            <a:endParaRPr lang="sr-Cyrl-RS" sz="1400" noProof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6F0FE0-AA89-F275-64AA-8AAD6D64878D}"/>
              </a:ext>
            </a:extLst>
          </p:cNvPr>
          <p:cNvSpPr txBox="1"/>
          <p:nvPr/>
        </p:nvSpPr>
        <p:spPr>
          <a:xfrm>
            <a:off x="9637908" y="3413861"/>
            <a:ext cx="14924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sz="14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Анализа локацијског премијума</a:t>
            </a:r>
            <a:endParaRPr lang="sr-Cyrl-RS" sz="1400" noProof="1"/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930B9843-11B6-BB2C-396C-52C53F4B4322}"/>
              </a:ext>
            </a:extLst>
          </p:cNvPr>
          <p:cNvSpPr/>
          <p:nvPr/>
        </p:nvSpPr>
        <p:spPr>
          <a:xfrm>
            <a:off x="2093006" y="2811838"/>
            <a:ext cx="740891" cy="292608"/>
          </a:xfrm>
          <a:prstGeom prst="chevron">
            <a:avLst/>
          </a:prstGeom>
          <a:solidFill>
            <a:schemeClr val="bg2"/>
          </a:solidFill>
          <a:ln>
            <a:solidFill>
              <a:srgbClr val="EF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07C31AE6-62F5-23B2-ACC7-1AAC8C56861A}"/>
              </a:ext>
            </a:extLst>
          </p:cNvPr>
          <p:cNvSpPr/>
          <p:nvPr/>
        </p:nvSpPr>
        <p:spPr>
          <a:xfrm>
            <a:off x="3892886" y="2806815"/>
            <a:ext cx="740891" cy="292608"/>
          </a:xfrm>
          <a:prstGeom prst="chevron">
            <a:avLst/>
          </a:prstGeom>
          <a:solidFill>
            <a:schemeClr val="bg2"/>
          </a:solidFill>
          <a:ln>
            <a:solidFill>
              <a:srgbClr val="EF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1C1C7D3B-0D6D-9ED4-106D-71D6658D248F}"/>
              </a:ext>
            </a:extLst>
          </p:cNvPr>
          <p:cNvSpPr/>
          <p:nvPr/>
        </p:nvSpPr>
        <p:spPr>
          <a:xfrm>
            <a:off x="5600915" y="2807423"/>
            <a:ext cx="740891" cy="292608"/>
          </a:xfrm>
          <a:prstGeom prst="chevron">
            <a:avLst/>
          </a:prstGeom>
          <a:solidFill>
            <a:schemeClr val="bg2"/>
          </a:solidFill>
          <a:ln>
            <a:solidFill>
              <a:srgbClr val="EF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E263EF6D-37A3-0EDF-B053-17AF42DD3E94}"/>
              </a:ext>
            </a:extLst>
          </p:cNvPr>
          <p:cNvSpPr/>
          <p:nvPr/>
        </p:nvSpPr>
        <p:spPr>
          <a:xfrm>
            <a:off x="7248127" y="2806815"/>
            <a:ext cx="740891" cy="292608"/>
          </a:xfrm>
          <a:prstGeom prst="chevron">
            <a:avLst/>
          </a:prstGeom>
          <a:solidFill>
            <a:schemeClr val="bg2"/>
          </a:solidFill>
          <a:ln>
            <a:solidFill>
              <a:srgbClr val="EF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6ECBC041-BAED-7B5B-EE7A-62AB93D15072}"/>
              </a:ext>
            </a:extLst>
          </p:cNvPr>
          <p:cNvSpPr/>
          <p:nvPr/>
        </p:nvSpPr>
        <p:spPr>
          <a:xfrm>
            <a:off x="8898661" y="2816861"/>
            <a:ext cx="740891" cy="292608"/>
          </a:xfrm>
          <a:prstGeom prst="chevron">
            <a:avLst/>
          </a:prstGeom>
          <a:solidFill>
            <a:schemeClr val="bg2"/>
          </a:solidFill>
          <a:ln>
            <a:solidFill>
              <a:srgbClr val="EF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60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1" grpId="0"/>
      <p:bldP spid="14" grpId="0"/>
      <p:bldP spid="15" grpId="0" animBg="1"/>
      <p:bldP spid="17" grpId="0"/>
      <p:bldP spid="19" grpId="0" animBg="1"/>
      <p:bldP spid="23" grpId="0" animBg="1"/>
      <p:bldP spid="25" grpId="0" animBg="1"/>
      <p:bldP spid="27" grpId="0" animBg="1"/>
      <p:bldP spid="29" grpId="0" animBg="1"/>
      <p:bldP spid="31" grpId="0"/>
      <p:bldP spid="39" grpId="0"/>
      <p:bldP spid="41" grpId="0"/>
      <p:bldP spid="43" grpId="0"/>
      <p:bldP spid="45" grpId="0"/>
      <p:bldP spid="47" grpId="0" animBg="1"/>
      <p:bldP spid="49" grpId="0" animBg="1"/>
      <p:bldP spid="51" grpId="0" animBg="1"/>
      <p:bldP spid="53" grpId="0" animBg="1"/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D5359-433D-9A39-7758-442042EC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4C86DE-16A1-A665-ECBD-254961E7CC34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Примарни скуп података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7EE0C-4C32-09B0-F680-8510E62BCAD8}"/>
              </a:ext>
            </a:extLst>
          </p:cNvPr>
          <p:cNvSpPr txBox="1"/>
          <p:nvPr/>
        </p:nvSpPr>
        <p:spPr>
          <a:xfrm>
            <a:off x="333170" y="230921"/>
            <a:ext cx="3542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ПРИПРЕМА ПОДАТАКА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A59CE3-4695-EC91-C45E-E8E55EF71531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BEC0E0-27DA-1687-349B-76C363E45368}"/>
              </a:ext>
            </a:extLst>
          </p:cNvPr>
          <p:cNvSpPr txBox="1">
            <a:spLocks/>
          </p:cNvSpPr>
          <p:nvPr/>
        </p:nvSpPr>
        <p:spPr>
          <a:xfrm>
            <a:off x="333170" y="1759664"/>
            <a:ext cx="5885127" cy="1464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Cyrl-RS" sz="18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9.298 оглашених станова прикупљено </a:t>
            </a:r>
            <a:r>
              <a:rPr lang="sr-Latn-RS" sz="18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Web-scraping</a:t>
            </a:r>
            <a:r>
              <a:rPr lang="sr-Cyrl-RS" sz="18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 методом са сајта „Хало огласи“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Cyrl-RS" sz="18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прикупљени су доступни оглашени станови у периоду од јуна до августа месеца 2026. године.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134550-3D7B-E825-9DEF-2F9C24172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532" y="3633409"/>
            <a:ext cx="7778455" cy="211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387EB-A186-DBA2-28A6-2A56ABA8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39D767-327C-D7BB-B0D9-645C77C912A8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Times New Roman" panose="02020603050405020304" pitchFamily="18" charset="0"/>
              </a:rPr>
              <a:t>Прикупљени подаци из огласа</a:t>
            </a:r>
            <a:endParaRPr lang="sr-Cyrl-R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95C99-2E31-970E-AB63-BE82AAD22BFB}"/>
              </a:ext>
            </a:extLst>
          </p:cNvPr>
          <p:cNvSpPr txBox="1"/>
          <p:nvPr/>
        </p:nvSpPr>
        <p:spPr>
          <a:xfrm>
            <a:off x="333171" y="230921"/>
            <a:ext cx="42504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ПРИПРЕМА ПОДАТАКА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07FA2-1C63-73AA-5B29-4B7A72B809F9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42E456-ACE3-335C-28B0-ED1FFFA428C3}"/>
              </a:ext>
            </a:extLst>
          </p:cNvPr>
          <p:cNvSpPr/>
          <p:nvPr/>
        </p:nvSpPr>
        <p:spPr>
          <a:xfrm>
            <a:off x="739966" y="1665628"/>
            <a:ext cx="4671483" cy="1257454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Идентификатори</a:t>
            </a:r>
            <a:endParaRPr lang="sr-Cyrl-RS" sz="1600" b="1" dirty="0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</a:rPr>
              <a:t>редни број, шифра огласа, назив оглашивача, врста оглашивача, датум и време објаве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42347B-E784-1CEE-3CD8-BA98B5429DE3}"/>
              </a:ext>
            </a:extLst>
          </p:cNvPr>
          <p:cNvSpPr/>
          <p:nvPr/>
        </p:nvSpPr>
        <p:spPr>
          <a:xfrm>
            <a:off x="739966" y="3191475"/>
            <a:ext cx="4671483" cy="1257454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Функционалне карактеристике</a:t>
            </a:r>
            <a:endParaRPr lang="sr-Cyrl-RS" sz="1600" noProof="1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</a:rPr>
              <a:t>тип некретнине, тип објекта, стање објекта, начин грејања, спрат, укупна спратност зграде, није последњи спрат, није стан у кући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B6820F6-01D9-D3DE-CF2C-D4E37E3EDE92}"/>
              </a:ext>
            </a:extLst>
          </p:cNvPr>
          <p:cNvSpPr/>
          <p:nvPr/>
        </p:nvSpPr>
        <p:spPr>
          <a:xfrm>
            <a:off x="739966" y="4717322"/>
            <a:ext cx="4671483" cy="1335134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Адресне карактеристике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</a:rPr>
              <a:t>општина, насеље, улица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16572EB-6D29-05F2-6DB6-CACA94B6EFB9}"/>
              </a:ext>
            </a:extLst>
          </p:cNvPr>
          <p:cNvSpPr/>
          <p:nvPr/>
        </p:nvSpPr>
        <p:spPr>
          <a:xfrm>
            <a:off x="6274858" y="1665628"/>
            <a:ext cx="4671483" cy="1257454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Цена и површина</a:t>
            </a:r>
            <a:endParaRPr lang="sr-Cyrl-RS" sz="1600" b="1" dirty="0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Цена, цена по m</a:t>
            </a:r>
            <a:r>
              <a:rPr lang="sr-Cyrl-RS" sz="1400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 </a:t>
            </a:r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, квадратура, број соба</a:t>
            </a:r>
            <a:endParaRPr lang="sr-Cyrl-RS" sz="1400" baseline="30000" noProof="1">
              <a:solidFill>
                <a:srgbClr val="17324D"/>
              </a:solidFill>
            </a:endParaRP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65AC269-BE7B-8A54-1112-8B47C02E2F1A}"/>
              </a:ext>
            </a:extLst>
          </p:cNvPr>
          <p:cNvSpPr/>
          <p:nvPr/>
        </p:nvSpPr>
        <p:spPr>
          <a:xfrm>
            <a:off x="6274858" y="3191475"/>
            <a:ext cx="4671483" cy="1257454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Правне карактеристике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400" noProof="1">
                <a:solidFill>
                  <a:srgbClr val="17324D"/>
                </a:solidFill>
              </a:rPr>
              <a:t>укњижен, под хипотеком, енергетски пасош, агенцијска провизија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0FEFDFA-940A-40A2-F72C-8A174FE04F1A}"/>
              </a:ext>
            </a:extLst>
          </p:cNvPr>
          <p:cNvSpPr/>
          <p:nvPr/>
        </p:nvSpPr>
        <p:spPr>
          <a:xfrm>
            <a:off x="6274858" y="4717321"/>
            <a:ext cx="4671483" cy="1335135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Додатна опремљеност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400" noProof="1">
                <a:solidFill>
                  <a:srgbClr val="17324D"/>
                </a:solidFill>
              </a:rPr>
              <a:t>салон, дуплекс, пентхаус, поткровље, тераса, француски балкон, лођа, стан са баштом, подрум, гаража, паркинг место, топла вода, клима уређај, камин, телефон, катв, интернет, интерфон, видео-надзор, лифт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0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 animBg="1"/>
      <p:bldP spid="21" grpId="0" animBg="1"/>
      <p:bldP spid="23" grpId="0" animBg="1"/>
      <p:bldP spid="25" grpId="0" animBg="1"/>
      <p:bldP spid="27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C41FC-4DB8-4108-9DC5-E7563738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158F7-93A5-EAF9-4E11-7B612436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DFF7E6-42C3-D8A7-06A5-39DC85CD765A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Филтрирање, чишћење и конверзија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C049D-EB53-7238-30DE-3089DBEA5461}"/>
              </a:ext>
            </a:extLst>
          </p:cNvPr>
          <p:cNvSpPr txBox="1"/>
          <p:nvPr/>
        </p:nvSpPr>
        <p:spPr>
          <a:xfrm>
            <a:off x="333171" y="230921"/>
            <a:ext cx="29308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ПРИПРЕМА ПОДАТАКА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F4165C-A281-6555-B07D-9BC404C6F75C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AD4624-9868-ACF4-7D3B-4D81D1F1DEAF}"/>
              </a:ext>
            </a:extLst>
          </p:cNvPr>
          <p:cNvSpPr/>
          <p:nvPr/>
        </p:nvSpPr>
        <p:spPr>
          <a:xfrm>
            <a:off x="739967" y="1665628"/>
            <a:ext cx="3442290" cy="1317058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1. Конверзија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400" noProof="1">
                <a:solidFill>
                  <a:srgbClr val="17324D"/>
                </a:solidFill>
              </a:rPr>
              <a:t>Алфанумеричке вредности претворене у нумеричке: PR→0, VPR→0,5, SUT→-1, NPR, PSUT→-0.5, 6+→6.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AE2284-21F7-97A4-AA85-CA5BA8670FF7}"/>
              </a:ext>
            </a:extLst>
          </p:cNvPr>
          <p:cNvSpPr/>
          <p:nvPr/>
        </p:nvSpPr>
        <p:spPr>
          <a:xfrm>
            <a:off x="4567455" y="1665627"/>
            <a:ext cx="3442290" cy="1317058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2.  Контрола адресе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400" noProof="1">
                <a:solidFill>
                  <a:srgbClr val="17324D"/>
                </a:solidFill>
              </a:rPr>
              <a:t>Искључени су огласи без улице, због поузданијег испитивања локацијских карактеристика.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80F381-19D2-2B7E-D196-924FD1A49FC2}"/>
              </a:ext>
            </a:extLst>
          </p:cNvPr>
          <p:cNvSpPr/>
          <p:nvPr/>
        </p:nvSpPr>
        <p:spPr>
          <a:xfrm>
            <a:off x="739967" y="3207061"/>
            <a:ext cx="3442290" cy="1317058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3. Дефинисање опсега</a:t>
            </a:r>
          </a:p>
          <a:p>
            <a:pPr algn="ctr"/>
            <a:r>
              <a:rPr lang="ru-RU" sz="1400" noProof="1">
                <a:solidFill>
                  <a:srgbClr val="17324D"/>
                </a:solidFill>
              </a:rPr>
              <a:t>20.000 € ≤ цена ≤ 2.000.000 €</a:t>
            </a:r>
          </a:p>
          <a:p>
            <a:pPr algn="ctr"/>
            <a:r>
              <a:rPr lang="ru-RU" sz="1400" noProof="1">
                <a:solidFill>
                  <a:srgbClr val="17324D"/>
                </a:solidFill>
              </a:rPr>
              <a:t>12 m</a:t>
            </a:r>
            <a:r>
              <a:rPr lang="ru-RU" sz="1400" baseline="30000" noProof="1">
                <a:solidFill>
                  <a:srgbClr val="17324D"/>
                </a:solidFill>
              </a:rPr>
              <a:t>2</a:t>
            </a:r>
            <a:r>
              <a:rPr lang="ru-RU" sz="1400" noProof="1">
                <a:solidFill>
                  <a:srgbClr val="17324D"/>
                </a:solidFill>
              </a:rPr>
              <a:t> ≤ квадратура ≤ 400 m</a:t>
            </a:r>
            <a:r>
              <a:rPr lang="ru-RU" sz="1400" baseline="30000" noProof="1">
                <a:solidFill>
                  <a:srgbClr val="17324D"/>
                </a:solidFill>
              </a:rPr>
              <a:t>2</a:t>
            </a:r>
          </a:p>
          <a:p>
            <a:pPr algn="ctr"/>
            <a:r>
              <a:rPr lang="ru-RU" sz="1400" noProof="1">
                <a:solidFill>
                  <a:srgbClr val="17324D"/>
                </a:solidFill>
              </a:rPr>
              <a:t>400 € ≤ цена по m</a:t>
            </a:r>
            <a:r>
              <a:rPr lang="ru-RU" sz="1400" baseline="30000" noProof="1">
                <a:solidFill>
                  <a:srgbClr val="17324D"/>
                </a:solidFill>
              </a:rPr>
              <a:t>2</a:t>
            </a:r>
            <a:r>
              <a:rPr lang="ru-RU" sz="1400" noProof="1">
                <a:solidFill>
                  <a:srgbClr val="17324D"/>
                </a:solidFill>
              </a:rPr>
              <a:t> ≤ 12.000 €</a:t>
            </a:r>
            <a:endParaRPr lang="ru-RU" sz="1400" baseline="30000" noProof="1">
              <a:solidFill>
                <a:srgbClr val="17324D"/>
              </a:solidFill>
            </a:endParaRP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0F3C01-2CFF-8416-D43F-48CA62188829}"/>
              </a:ext>
            </a:extLst>
          </p:cNvPr>
          <p:cNvSpPr/>
          <p:nvPr/>
        </p:nvSpPr>
        <p:spPr>
          <a:xfrm>
            <a:off x="4567455" y="3207062"/>
            <a:ext cx="3442290" cy="131705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Times New Roman" panose="02020603050405020304" pitchFamily="18" charset="0"/>
              </a:rPr>
              <a:t>4. Недостајуће вредности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400" noProof="1">
                <a:solidFill>
                  <a:srgbClr val="17324D"/>
                </a:solidFill>
              </a:rPr>
              <a:t>Креирање посебних категорија за описне атрибуте и рачунање медијане за нумеричке атрибуте</a:t>
            </a:r>
            <a:r>
              <a:rPr lang="ru-RU" sz="1200" noProof="1">
                <a:solidFill>
                  <a:srgbClr val="17324D"/>
                </a:solidFill>
              </a:rPr>
              <a:t>.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9A0657-0564-E352-8AA1-9AEADA1D7A21}"/>
              </a:ext>
            </a:extLst>
          </p:cNvPr>
          <p:cNvSpPr txBox="1"/>
          <p:nvPr/>
        </p:nvSpPr>
        <p:spPr>
          <a:xfrm>
            <a:off x="8880648" y="3207061"/>
            <a:ext cx="2203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b="1" dirty="0">
                <a:solidFill>
                  <a:srgbClr val="17324D"/>
                </a:solidFill>
              </a:rPr>
              <a:t>Коначан број огласа</a:t>
            </a:r>
          </a:p>
          <a:p>
            <a:pPr algn="ctr"/>
            <a:r>
              <a:rPr lang="sr-Cyrl-RS" b="1" dirty="0">
                <a:solidFill>
                  <a:srgbClr val="17324D"/>
                </a:solidFill>
              </a:rPr>
              <a:t>7.608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DC0286-2890-97E2-5A56-C4DF8633D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67" y="4855011"/>
            <a:ext cx="5660833" cy="1248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980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" grpId="0" animBg="1"/>
      <p:bldP spid="9" grpId="0" animBg="1"/>
      <p:bldP spid="11" grpId="0" animBg="1"/>
      <p:bldP spid="13" grpId="0" animBg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F648-055B-F7F4-3619-DCD3D1340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2AFD0-9F6E-266D-C596-D593B3C9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913859-C372-F3B2-9EFE-AAF9F5355065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Геокодирање и креирање просторних предиктора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86860-6C2F-F13C-2C69-1A8F7A103F4B}"/>
              </a:ext>
            </a:extLst>
          </p:cNvPr>
          <p:cNvSpPr txBox="1"/>
          <p:nvPr/>
        </p:nvSpPr>
        <p:spPr>
          <a:xfrm>
            <a:off x="333170" y="230921"/>
            <a:ext cx="34633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ПРИПРЕМА ПОДАТАКА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61A0DA-80C8-BC52-4B5E-344836C9298F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BA41FA-E6F5-752D-D309-0CD99998BDB1}"/>
              </a:ext>
            </a:extLst>
          </p:cNvPr>
          <p:cNvSpPr/>
          <p:nvPr/>
        </p:nvSpPr>
        <p:spPr>
          <a:xfrm>
            <a:off x="410183" y="1665628"/>
            <a:ext cx="2551402" cy="1507332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Пун назив адресе</a:t>
            </a:r>
            <a:endParaRPr lang="sr-Cyrl-RS" sz="1600" noProof="1"/>
          </a:p>
          <a:p>
            <a:pPr algn="ctr"/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улица, насеље, општина, град</a:t>
            </a:r>
            <a:endParaRPr lang="sr-Cyrl-RS" sz="1400" noProof="1"/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51CCED-756A-C1F4-A8FA-0526C028B30E}"/>
              </a:ext>
            </a:extLst>
          </p:cNvPr>
          <p:cNvSpPr/>
          <p:nvPr/>
        </p:nvSpPr>
        <p:spPr>
          <a:xfrm>
            <a:off x="3303596" y="1665628"/>
            <a:ext cx="2551402" cy="1507332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ArcGIS геокодер</a:t>
            </a:r>
            <a:endParaRPr lang="sr-Cyrl-RS" sz="1600" noProof="1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добијање лонгитуде и латитуде</a:t>
            </a:r>
            <a:endParaRPr lang="sr-Cyrl-RS" sz="1400" noProof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E4C48B-A57B-BE98-E620-2C83654EFCDB}"/>
              </a:ext>
            </a:extLst>
          </p:cNvPr>
          <p:cNvSpPr/>
          <p:nvPr/>
        </p:nvSpPr>
        <p:spPr>
          <a:xfrm>
            <a:off x="6267005" y="1665628"/>
            <a:ext cx="2551402" cy="1507332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WGS84 / UTM 34N</a:t>
            </a:r>
            <a:endParaRPr lang="sr-Cyrl-RS" sz="1600" noProof="1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400" noProof="1">
                <a:solidFill>
                  <a:srgbClr val="17324D"/>
                </a:solidFill>
              </a:rPr>
              <a:t>т</a:t>
            </a:r>
            <a:r>
              <a:rPr lang="ru-RU" sz="1400" noProof="1">
                <a:solidFill>
                  <a:srgbClr val="17324D"/>
                </a:solidFill>
              </a:rPr>
              <a:t>рансформација </a:t>
            </a:r>
            <a:r>
              <a:rPr lang="sr-Cyrl-RS" sz="1400" noProof="1">
                <a:solidFill>
                  <a:srgbClr val="17324D"/>
                </a:solidFill>
              </a:rPr>
              <a:t>угловних координата</a:t>
            </a:r>
            <a:r>
              <a:rPr lang="sr-Latn-RS" sz="1400" noProof="1">
                <a:solidFill>
                  <a:srgbClr val="17324D"/>
                </a:solidFill>
              </a:rPr>
              <a:t> </a:t>
            </a:r>
            <a:r>
              <a:rPr lang="ru-RU" sz="1400" noProof="1">
                <a:solidFill>
                  <a:srgbClr val="17324D"/>
                </a:solidFill>
              </a:rPr>
              <a:t>у правоугле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FDEB14-8175-615A-FEE0-3A16719189AC}"/>
              </a:ext>
            </a:extLst>
          </p:cNvPr>
          <p:cNvSpPr/>
          <p:nvPr/>
        </p:nvSpPr>
        <p:spPr>
          <a:xfrm>
            <a:off x="9230415" y="1665628"/>
            <a:ext cx="2551402" cy="1507330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R/</a:t>
            </a:r>
            <a:r>
              <a:rPr lang="sr-Latn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GIS</a:t>
            </a: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 Програм</a:t>
            </a:r>
            <a:endParaRPr lang="sr-Cyrl-RS" sz="1600" noProof="1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рачунање и контрола најкраћих растојања од оглашених станова до градског садржаја</a:t>
            </a:r>
            <a:endParaRPr lang="sr-Cyrl-RS" sz="1400" noProof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CD52E-485B-E8A0-C62A-D1DF59FC0818}"/>
              </a:ext>
            </a:extLst>
          </p:cNvPr>
          <p:cNvSpPr txBox="1"/>
          <p:nvPr/>
        </p:nvSpPr>
        <p:spPr>
          <a:xfrm>
            <a:off x="410183" y="3549672"/>
            <a:ext cx="6092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Нови просторни предиктори:</a:t>
            </a:r>
            <a:endParaRPr lang="sr-Cyrl-RS" sz="1600" noProof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38203C-C6F7-0ED2-E83C-6B27853E0CAA}"/>
              </a:ext>
            </a:extLst>
          </p:cNvPr>
          <p:cNvSpPr/>
          <p:nvPr/>
        </p:nvSpPr>
        <p:spPr>
          <a:xfrm>
            <a:off x="8013248" y="4134608"/>
            <a:ext cx="3128164" cy="47631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паркови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2DFC534-B435-740E-3CA4-D42C5CD2471B}"/>
              </a:ext>
            </a:extLst>
          </p:cNvPr>
          <p:cNvSpPr/>
          <p:nvPr/>
        </p:nvSpPr>
        <p:spPr>
          <a:xfrm>
            <a:off x="4531918" y="4134609"/>
            <a:ext cx="3128164" cy="476316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установе културе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C2F1877-50A1-0486-459D-54C735395389}"/>
              </a:ext>
            </a:extLst>
          </p:cNvPr>
          <p:cNvSpPr/>
          <p:nvPr/>
        </p:nvSpPr>
        <p:spPr>
          <a:xfrm>
            <a:off x="1050588" y="4132690"/>
            <a:ext cx="3128164" cy="478235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400" b="1" noProof="1">
                <a:solidFill>
                  <a:srgbClr val="17324D"/>
                </a:solidFill>
              </a:rPr>
              <a:t>центар града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12AB672-BCE9-0A38-8CAA-9337DB6087BD}"/>
              </a:ext>
            </a:extLst>
          </p:cNvPr>
          <p:cNvSpPr/>
          <p:nvPr/>
        </p:nvSpPr>
        <p:spPr>
          <a:xfrm>
            <a:off x="8013248" y="4901010"/>
            <a:ext cx="3128164" cy="47631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стајалишта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8192EE9-1F6A-D75A-629A-AD8F4C223110}"/>
              </a:ext>
            </a:extLst>
          </p:cNvPr>
          <p:cNvSpPr/>
          <p:nvPr/>
        </p:nvSpPr>
        <p:spPr>
          <a:xfrm>
            <a:off x="4531918" y="4901011"/>
            <a:ext cx="3128164" cy="476316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вртићи</a:t>
            </a:r>
            <a:endParaRPr lang="sr-Cyrl-RS" sz="1200" noProof="1">
              <a:solidFill>
                <a:srgbClr val="17324D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486007C-E974-36D2-1EDD-2FA063271A13}"/>
              </a:ext>
            </a:extLst>
          </p:cNvPr>
          <p:cNvSpPr/>
          <p:nvPr/>
        </p:nvSpPr>
        <p:spPr>
          <a:xfrm>
            <a:off x="1050588" y="4899092"/>
            <a:ext cx="3128164" cy="478235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школе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D1FF84-9485-338C-5FEE-102995462767}"/>
              </a:ext>
            </a:extLst>
          </p:cNvPr>
          <p:cNvSpPr/>
          <p:nvPr/>
        </p:nvSpPr>
        <p:spPr>
          <a:xfrm>
            <a:off x="8013248" y="5678971"/>
            <a:ext cx="3128164" cy="47631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верски објекти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91EB358-1212-6774-B3C1-4DFB5C02BC89}"/>
              </a:ext>
            </a:extLst>
          </p:cNvPr>
          <p:cNvSpPr/>
          <p:nvPr/>
        </p:nvSpPr>
        <p:spPr>
          <a:xfrm>
            <a:off x="4531918" y="5678972"/>
            <a:ext cx="3128164" cy="476316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воде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6EA39F9-32BD-E618-6C68-5F50735FB786}"/>
              </a:ext>
            </a:extLst>
          </p:cNvPr>
          <p:cNvSpPr/>
          <p:nvPr/>
        </p:nvSpPr>
        <p:spPr>
          <a:xfrm>
            <a:off x="1050588" y="5677053"/>
            <a:ext cx="3128164" cy="478235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шуме</a:t>
            </a:r>
            <a:endParaRPr lang="ru-RU" sz="1400" b="1" noProof="1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88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" grpId="0" animBg="1"/>
      <p:bldP spid="9" grpId="0" animBg="1"/>
      <p:bldP spid="11" grpId="0" animBg="1"/>
      <p:bldP spid="13" grpId="0" animBg="1"/>
      <p:bldP spid="15" grpId="0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4614F-B875-A88F-761E-DF7BB360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7081-8AC7-2E02-2D57-2525E795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E8B164-D444-749E-A252-F4241D06A06E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Сумарна статистика и дистрибуција цене станова по </a:t>
            </a:r>
            <a:r>
              <a:rPr lang="sr-Latn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m</a:t>
            </a:r>
            <a:r>
              <a:rPr lang="sr-Latn-RS" b="1" baseline="30000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2</a:t>
            </a:r>
            <a:endParaRPr lang="sr-Cyrl-RS" baseline="30000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C6B81-AEFA-32B0-F3F9-B3338D2A4B3B}"/>
              </a:ext>
            </a:extLst>
          </p:cNvPr>
          <p:cNvSpPr txBox="1"/>
          <p:nvPr/>
        </p:nvSpPr>
        <p:spPr>
          <a:xfrm>
            <a:off x="333170" y="230921"/>
            <a:ext cx="3099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ДЕСКРИПТИВНА АНАЛИЗА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DA48FB-0A4B-BF90-1AE5-BD30B4AC25D3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A8A0EAC-E497-CF9F-1B6B-3853613C454F}"/>
              </a:ext>
            </a:extLst>
          </p:cNvPr>
          <p:cNvSpPr txBox="1"/>
          <p:nvPr/>
        </p:nvSpPr>
        <p:spPr>
          <a:xfrm>
            <a:off x="410183" y="3565130"/>
            <a:ext cx="5348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324D"/>
                </a:solidFill>
              </a:rPr>
              <a:t>расподела цене по m</a:t>
            </a:r>
            <a:r>
              <a:rPr lang="ru-RU" sz="1600" baseline="30000" dirty="0">
                <a:solidFill>
                  <a:srgbClr val="17324D"/>
                </a:solidFill>
              </a:rPr>
              <a:t>2</a:t>
            </a:r>
            <a:r>
              <a:rPr lang="ru-RU" sz="1600" dirty="0">
                <a:solidFill>
                  <a:srgbClr val="17324D"/>
                </a:solidFill>
              </a:rPr>
              <a:t> је десна асиметрична.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17324D"/>
                </a:solidFill>
              </a:rPr>
              <a:t>највећи број огласа је у распону 2.600-4.200 €/m</a:t>
            </a:r>
            <a:r>
              <a:rPr lang="ru-RU" sz="1600" baseline="30000" dirty="0">
                <a:solidFill>
                  <a:srgbClr val="17324D"/>
                </a:solidFill>
              </a:rPr>
              <a:t>2</a:t>
            </a:r>
            <a:r>
              <a:rPr lang="ru-RU" sz="1600" dirty="0">
                <a:solidFill>
                  <a:srgbClr val="17324D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91188-D0E6-410D-8D1C-D50098D9D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44" y="3020328"/>
            <a:ext cx="5208906" cy="325556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3E3D9E-9829-2827-5A7E-FC74DCADC9C5}"/>
              </a:ext>
            </a:extLst>
          </p:cNvPr>
          <p:cNvSpPr/>
          <p:nvPr/>
        </p:nvSpPr>
        <p:spPr>
          <a:xfrm>
            <a:off x="1159213" y="1618210"/>
            <a:ext cx="2663757" cy="1076352"/>
          </a:xfrm>
          <a:prstGeom prst="roundRect">
            <a:avLst>
              <a:gd name="adj" fmla="val 1016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20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3.375 €/m</a:t>
            </a:r>
            <a:r>
              <a:rPr lang="sr-Cyrl-RS" sz="2000" b="1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2000" baseline="30000" noProof="1">
              <a:solidFill>
                <a:srgbClr val="17324D"/>
              </a:solidFill>
            </a:endParaRPr>
          </a:p>
          <a:p>
            <a:pPr algn="ctr"/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медијана цене по </a:t>
            </a:r>
            <a:r>
              <a:rPr lang="en-U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m</a:t>
            </a:r>
            <a:r>
              <a:rPr lang="en-US" sz="1400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000211-74B4-9DC2-34CF-8FB84FC41571}"/>
              </a:ext>
            </a:extLst>
          </p:cNvPr>
          <p:cNvSpPr/>
          <p:nvPr/>
        </p:nvSpPr>
        <p:spPr>
          <a:xfrm>
            <a:off x="4239638" y="1616446"/>
            <a:ext cx="2663757" cy="1076352"/>
          </a:xfrm>
          <a:prstGeom prst="roundRect">
            <a:avLst>
              <a:gd name="adj" fmla="val 11976"/>
            </a:avLst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2000" b="1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3.571 €/m</a:t>
            </a:r>
            <a:r>
              <a:rPr lang="sr-Cyrl-RS" sz="2000" b="1" baseline="30000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2000" baseline="30000" noProof="1">
              <a:solidFill>
                <a:schemeClr val="bg1"/>
              </a:solidFill>
            </a:endParaRPr>
          </a:p>
          <a:p>
            <a:pPr algn="ctr"/>
            <a:r>
              <a:rPr lang="sr-Cyrl-RS" sz="1400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просечна цена</a:t>
            </a:r>
            <a:r>
              <a:rPr lang="sr-Latn-RS" sz="1400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 </a:t>
            </a:r>
            <a:r>
              <a:rPr lang="sr-Cyrl-RS" sz="1400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по</a:t>
            </a:r>
            <a:r>
              <a:rPr lang="sr-Latn-RS" sz="1400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 m</a:t>
            </a:r>
            <a:r>
              <a:rPr lang="sr-Latn-RS" sz="1400" baseline="30000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1400" baseline="30000" noProof="1">
              <a:solidFill>
                <a:schemeClr val="bg1"/>
              </a:solidFill>
            </a:endParaRP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3249F8-7956-7C6B-8760-A6477E6C9C28}"/>
              </a:ext>
            </a:extLst>
          </p:cNvPr>
          <p:cNvSpPr/>
          <p:nvPr/>
        </p:nvSpPr>
        <p:spPr>
          <a:xfrm>
            <a:off x="7320063" y="1609982"/>
            <a:ext cx="2663757" cy="1076352"/>
          </a:xfrm>
          <a:prstGeom prst="roundRect">
            <a:avLst>
              <a:gd name="adj" fmla="val 11072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20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68,81 m</a:t>
            </a:r>
            <a:r>
              <a:rPr lang="sr-Cyrl-RS" sz="2000" b="1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2000" noProof="1">
              <a:solidFill>
                <a:srgbClr val="17324D"/>
              </a:solidFill>
            </a:endParaRPr>
          </a:p>
          <a:p>
            <a:pPr algn="ctr"/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медијана квадратуре</a:t>
            </a:r>
            <a:endParaRPr lang="sr-Cyrl-RS" sz="1400" noProof="1">
              <a:solidFill>
                <a:srgbClr val="17324D"/>
              </a:solidFill>
            </a:endParaRP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0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" grpId="0"/>
      <p:bldP spid="11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DD77-637D-5775-46DA-A3169E53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2718B-380B-7341-919D-3715B2E1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1FC98F-68D7-E336-6E10-E3A1FB0753A1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Цена по m² по београдским општинама</a:t>
            </a:r>
            <a:endParaRPr lang="sr-Cyrl-R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A7AB3-9F2F-DF6A-2F43-7A073429F1D4}"/>
              </a:ext>
            </a:extLst>
          </p:cNvPr>
          <p:cNvSpPr txBox="1"/>
          <p:nvPr/>
        </p:nvSpPr>
        <p:spPr>
          <a:xfrm>
            <a:off x="333171" y="230921"/>
            <a:ext cx="3178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ДЕСКРИПТИВНА АНАЛИЗА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B386C-E7A9-D576-BEF5-068929C347B2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8DD1073-F71B-6CBA-CDA8-A9763BBE6DEF}"/>
              </a:ext>
            </a:extLst>
          </p:cNvPr>
          <p:cNvSpPr txBox="1"/>
          <p:nvPr/>
        </p:nvSpPr>
        <p:spPr>
          <a:xfrm>
            <a:off x="461954" y="1680729"/>
            <a:ext cx="4991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Највише медијана цене по </a:t>
            </a:r>
            <a:r>
              <a:rPr lang="sr-Cyrl-RS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m</a:t>
            </a:r>
            <a:r>
              <a:rPr lang="sr-Cyrl-RS" b="1" baseline="300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baseline="30000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7A359-CFEF-A6D5-94F0-E3F6D7A2AC12}"/>
              </a:ext>
            </a:extLst>
          </p:cNvPr>
          <p:cNvSpPr txBox="1"/>
          <p:nvPr/>
        </p:nvSpPr>
        <p:spPr>
          <a:xfrm>
            <a:off x="461954" y="2323924"/>
            <a:ext cx="4815081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dirty="0">
                <a:solidFill>
                  <a:srgbClr val="17324D"/>
                </a:solidFill>
              </a:rPr>
              <a:t>Савски венац 4.810 €/m</a:t>
            </a:r>
            <a:r>
              <a:rPr lang="ru-RU" sz="1600" baseline="30000" dirty="0">
                <a:solidFill>
                  <a:srgbClr val="17324D"/>
                </a:solidFill>
              </a:rPr>
              <a:t>2</a:t>
            </a:r>
            <a:r>
              <a:rPr lang="ru-RU" sz="1600" dirty="0">
                <a:solidFill>
                  <a:srgbClr val="17324D"/>
                </a:solidFill>
              </a:rPr>
              <a:t>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dirty="0">
                <a:solidFill>
                  <a:srgbClr val="17324D"/>
                </a:solidFill>
              </a:rPr>
              <a:t>Стари град 4.565 €/m</a:t>
            </a:r>
            <a:r>
              <a:rPr lang="ru-RU" sz="1600" baseline="30000" dirty="0">
                <a:solidFill>
                  <a:srgbClr val="17324D"/>
                </a:solidFill>
              </a:rPr>
              <a:t>2</a:t>
            </a:r>
            <a:r>
              <a:rPr lang="ru-RU" sz="1600" dirty="0">
                <a:solidFill>
                  <a:srgbClr val="17324D"/>
                </a:solidFill>
              </a:rPr>
              <a:t>,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dirty="0">
                <a:solidFill>
                  <a:srgbClr val="17324D"/>
                </a:solidFill>
              </a:rPr>
              <a:t>Врачар 4.274 €/m</a:t>
            </a:r>
            <a:r>
              <a:rPr lang="ru-RU" sz="1600" baseline="30000" dirty="0">
                <a:solidFill>
                  <a:srgbClr val="17324D"/>
                </a:solidFill>
              </a:rPr>
              <a:t>2</a:t>
            </a:r>
            <a:r>
              <a:rPr lang="ru-RU" sz="1600" dirty="0">
                <a:solidFill>
                  <a:srgbClr val="17324D"/>
                </a:solidFill>
              </a:rPr>
              <a:t>,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dirty="0">
                <a:solidFill>
                  <a:srgbClr val="17324D"/>
                </a:solidFill>
              </a:rPr>
              <a:t>Нови Београд 3.679 €/m</a:t>
            </a:r>
            <a:r>
              <a:rPr lang="ru-RU" sz="1600" baseline="30000" dirty="0">
                <a:solidFill>
                  <a:srgbClr val="17324D"/>
                </a:solidFill>
              </a:rPr>
              <a:t>2</a:t>
            </a:r>
            <a:r>
              <a:rPr lang="ru-RU" sz="1600" dirty="0">
                <a:solidFill>
                  <a:srgbClr val="17324D"/>
                </a:solidFill>
              </a:rPr>
              <a:t>,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ru-RU" sz="1600" dirty="0">
                <a:solidFill>
                  <a:srgbClr val="17324D"/>
                </a:solidFill>
              </a:rPr>
              <a:t>Вождовац 3.191 €/m</a:t>
            </a:r>
            <a:r>
              <a:rPr lang="ru-RU" sz="1600" baseline="30000" dirty="0">
                <a:solidFill>
                  <a:srgbClr val="17324D"/>
                </a:solidFill>
              </a:rPr>
              <a:t>2</a:t>
            </a:r>
            <a:r>
              <a:rPr lang="ru-RU" sz="1600" dirty="0">
                <a:solidFill>
                  <a:srgbClr val="17324D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F2211-6CF4-0776-E187-4F0915EF5A2D}"/>
              </a:ext>
            </a:extLst>
          </p:cNvPr>
          <p:cNvSpPr txBox="1"/>
          <p:nvPr/>
        </p:nvSpPr>
        <p:spPr>
          <a:xfrm>
            <a:off x="461954" y="4270074"/>
            <a:ext cx="46839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sr-Cyrl-RS" sz="16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Општине близу центра града имају </a:t>
            </a: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веће и хетерогеније </a:t>
            </a:r>
            <a:r>
              <a:rPr lang="sr-Cyrl-RS" sz="16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цене по m² од приградских општина које имају </a:t>
            </a: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мање и уједначеније </a:t>
            </a:r>
            <a:r>
              <a:rPr lang="sr-Cyrl-RS" sz="16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цене по m</a:t>
            </a:r>
            <a:r>
              <a:rPr lang="sr-Cyrl-RS" sz="1600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r>
              <a:rPr lang="sr-Cyrl-RS" sz="16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.</a:t>
            </a:r>
            <a:endParaRPr lang="sr-Cyrl-RS" sz="1600" noProof="1">
              <a:solidFill>
                <a:srgbClr val="17324D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5D1337-B085-EB0F-5B05-00809201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841" y="1452930"/>
            <a:ext cx="5791517" cy="43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1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C18EC-1153-F7D6-B049-F09D0121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CEA93-FE48-126B-FBB2-40BD9E59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C18B64-547E-6E9C-B03A-3096B5AC9B86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1145918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Спирманова корелација локацијских предиктора</a:t>
            </a:r>
            <a:endParaRPr lang="sr-Cyrl-R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91B44-EDE9-6E05-9853-573CFDB15FA9}"/>
              </a:ext>
            </a:extLst>
          </p:cNvPr>
          <p:cNvSpPr txBox="1"/>
          <p:nvPr/>
        </p:nvSpPr>
        <p:spPr>
          <a:xfrm>
            <a:off x="333171" y="230921"/>
            <a:ext cx="3139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ПРОСТОРНА АНАЛИЗА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BAF9F0-C3AA-C838-A53E-42BDC895519F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037CA79-C46F-D067-3C7C-C0B086CF3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597" y="1506727"/>
            <a:ext cx="6136698" cy="48447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F7B4BA8-04E9-7E99-8254-24B492ACFD6C}"/>
              </a:ext>
            </a:extLst>
          </p:cNvPr>
          <p:cNvSpPr txBox="1"/>
          <p:nvPr/>
        </p:nvSpPr>
        <p:spPr>
          <a:xfrm>
            <a:off x="596834" y="1865395"/>
            <a:ext cx="3624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600" b="1" dirty="0">
                <a:solidFill>
                  <a:srgbClr val="17324D"/>
                </a:solidFill>
              </a:rPr>
              <a:t>Центар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49E706-668C-0630-8102-3335864AB8CF}"/>
              </a:ext>
            </a:extLst>
          </p:cNvPr>
          <p:cNvSpPr txBox="1"/>
          <p:nvPr/>
        </p:nvSpPr>
        <p:spPr>
          <a:xfrm>
            <a:off x="596834" y="2502135"/>
            <a:ext cx="3375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r-Cyrl-RS" sz="16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Установе културе (музеји и позоришта)</a:t>
            </a:r>
            <a:endParaRPr lang="sr-Cyrl-RS" sz="1600" noProof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132814-A903-AEA3-1B87-41F1F5A26687}"/>
              </a:ext>
            </a:extLst>
          </p:cNvPr>
          <p:cNvSpPr txBox="1"/>
          <p:nvPr/>
        </p:nvSpPr>
        <p:spPr>
          <a:xfrm>
            <a:off x="596834" y="3299139"/>
            <a:ext cx="3443258" cy="338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r-Cyrl-RS" sz="1600" b="1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Школе</a:t>
            </a:r>
            <a:endParaRPr lang="sr-Cyrl-RS" sz="1600" noProof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DB23EF-5942-8E1D-F6F9-692A860200D6}"/>
              </a:ext>
            </a:extLst>
          </p:cNvPr>
          <p:cNvSpPr txBox="1"/>
          <p:nvPr/>
        </p:nvSpPr>
        <p:spPr>
          <a:xfrm>
            <a:off x="3895662" y="1897160"/>
            <a:ext cx="1384935" cy="37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sr-Cyrl-RS" sz="18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-0,65</a:t>
            </a:r>
            <a:endParaRPr lang="sr-Cyrl-RS" sz="1800" noProof="1">
              <a:solidFill>
                <a:srgbClr val="17324D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16A103-7756-DD3D-2767-9D657788304A}"/>
              </a:ext>
            </a:extLst>
          </p:cNvPr>
          <p:cNvSpPr txBox="1"/>
          <p:nvPr/>
        </p:nvSpPr>
        <p:spPr>
          <a:xfrm>
            <a:off x="865860" y="4520276"/>
            <a:ext cx="44147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rs = 0,82 између центра и установа културе </a:t>
            </a:r>
          </a:p>
          <a:p>
            <a:pPr marL="0" indent="0" algn="ctr">
              <a:buNone/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→ </a:t>
            </a:r>
          </a:p>
          <a:p>
            <a:pPr marL="0" indent="0" algn="ctr">
              <a:buNone/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могућа мултиколинеарност</a:t>
            </a:r>
            <a:endParaRPr lang="sr-Cyrl-RS" sz="1600" noProof="1">
              <a:solidFill>
                <a:srgbClr val="17324D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2535A-F032-0B87-F75E-D59060253D74}"/>
              </a:ext>
            </a:extLst>
          </p:cNvPr>
          <p:cNvSpPr txBox="1"/>
          <p:nvPr/>
        </p:nvSpPr>
        <p:spPr>
          <a:xfrm>
            <a:off x="3854220" y="2514453"/>
            <a:ext cx="1384935" cy="37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sr-Cyrl-RS" sz="18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-0,58</a:t>
            </a:r>
            <a:endParaRPr lang="sr-Cyrl-RS" sz="1800" noProof="1">
              <a:solidFill>
                <a:srgbClr val="17324D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705B84-648B-351B-F887-4BF97D0E2740}"/>
              </a:ext>
            </a:extLst>
          </p:cNvPr>
          <p:cNvSpPr txBox="1"/>
          <p:nvPr/>
        </p:nvSpPr>
        <p:spPr>
          <a:xfrm>
            <a:off x="3854220" y="3283899"/>
            <a:ext cx="1384935" cy="37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sr-Cyrl-RS" sz="18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-0,56</a:t>
            </a:r>
            <a:endParaRPr lang="sr-Cyrl-RS" sz="1800" noProof="1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0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1" grpId="0"/>
      <p:bldP spid="23" grpId="0"/>
      <p:bldP spid="25" grpId="0"/>
      <p:bldP spid="27" grpId="0"/>
      <p:bldP spid="29" grpId="0"/>
      <p:bldP spid="33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D30A0-12C5-874E-75C4-7C7E342F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479D-EA6C-0443-6DBA-8D5D5507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C61278-BDF6-674E-6D35-D3BF056040A7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Просторна расподела цене оглашених станова по </a:t>
            </a:r>
            <a:r>
              <a:rPr lang="sr-Latn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m</a:t>
            </a:r>
            <a:r>
              <a:rPr lang="sr-Cyrl-RS" b="1" baseline="30000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2</a:t>
            </a:r>
            <a:endParaRPr lang="sr-Cyrl-RS" baseline="30000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66167-89FE-AA6D-17DC-5F79B3275301}"/>
              </a:ext>
            </a:extLst>
          </p:cNvPr>
          <p:cNvSpPr txBox="1"/>
          <p:nvPr/>
        </p:nvSpPr>
        <p:spPr>
          <a:xfrm>
            <a:off x="333170" y="230921"/>
            <a:ext cx="2958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ПРОСТОРНА АНАЛИЗА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CCD827-3B67-8F30-9056-DB27CF3D4557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3D3FFFD-5344-8EC4-DEAF-265B918F7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0878"/>
            <a:ext cx="6629400" cy="515620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82BE55-0233-C269-9002-7AC7B0C3B75F}"/>
              </a:ext>
            </a:extLst>
          </p:cNvPr>
          <p:cNvSpPr/>
          <p:nvPr/>
        </p:nvSpPr>
        <p:spPr>
          <a:xfrm>
            <a:off x="8124216" y="1723994"/>
            <a:ext cx="3229583" cy="1194303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&gt; 4.000 €/m</a:t>
            </a:r>
            <a:r>
              <a:rPr lang="sr-Cyrl-RS" sz="1600" b="1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1600" baseline="30000" noProof="1"/>
          </a:p>
          <a:p>
            <a:endParaRPr lang="sr-Cyrl-RS" sz="1400" noProof="1">
              <a:solidFill>
                <a:srgbClr val="243746"/>
              </a:solidFill>
              <a:ea typeface="Aptos" pitchFamily="34" charset="-122"/>
              <a:cs typeface="Aptos" pitchFamily="34" charset="-120"/>
            </a:endParaRPr>
          </a:p>
          <a:p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Стари град, Врачар, Савски венац, Нови Београд</a:t>
            </a:r>
            <a:endParaRPr lang="sr-Cyrl-RS" sz="1400" noProof="1"/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6DC9D3-7BB1-EF1E-E882-5544AA137976}"/>
              </a:ext>
            </a:extLst>
          </p:cNvPr>
          <p:cNvSpPr/>
          <p:nvPr/>
        </p:nvSpPr>
        <p:spPr>
          <a:xfrm>
            <a:off x="8124214" y="4804314"/>
            <a:ext cx="3229583" cy="1194303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1.000 - 2.000 €/m</a:t>
            </a:r>
            <a:r>
              <a:rPr lang="sr-Cyrl-RS" sz="1600" b="1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1600" baseline="30000" noProof="1"/>
          </a:p>
          <a:p>
            <a:endParaRPr lang="sr-Cyrl-RS" sz="1400" noProof="1">
              <a:solidFill>
                <a:srgbClr val="243746"/>
              </a:solidFill>
              <a:ea typeface="Aptos" pitchFamily="34" charset="-122"/>
              <a:cs typeface="Aptos" pitchFamily="34" charset="-120"/>
            </a:endParaRPr>
          </a:p>
          <a:p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Периферија и приградске општине</a:t>
            </a:r>
            <a:endParaRPr lang="sr-Cyrl-RS" sz="1400" noProof="1"/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AA3526-BD5D-C223-BC87-2FB8493D9318}"/>
              </a:ext>
            </a:extLst>
          </p:cNvPr>
          <p:cNvSpPr/>
          <p:nvPr/>
        </p:nvSpPr>
        <p:spPr>
          <a:xfrm>
            <a:off x="8124215" y="3252279"/>
            <a:ext cx="3229583" cy="1194303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2.000 - 4.000 €/m</a:t>
            </a:r>
            <a:r>
              <a:rPr lang="sr-Cyrl-RS" sz="1600" b="1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1600" baseline="30000" noProof="1"/>
          </a:p>
          <a:p>
            <a:endParaRPr lang="sr-Cyrl-RS" sz="1400" noProof="1">
              <a:solidFill>
                <a:srgbClr val="243746"/>
              </a:solidFill>
              <a:ea typeface="Aptos" pitchFamily="34" charset="-122"/>
              <a:cs typeface="Aptos" pitchFamily="34" charset="-120"/>
            </a:endParaRPr>
          </a:p>
          <a:p>
            <a:r>
              <a:rPr lang="sr-Cyrl-RS" sz="14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Вождовац, Звездара, Палилула, Земун и Чукарица</a:t>
            </a:r>
            <a:endParaRPr lang="sr-Cyrl-RS" sz="1400" noProof="1"/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04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 animBg="1"/>
      <p:bldP spid="16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2B34-43B5-968A-4543-4997B523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2AC57-7075-0B28-C849-9E80D97F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3BAF9F-04A7-D1B1-D468-7FD309CEA621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Цена по m</a:t>
            </a:r>
            <a:r>
              <a:rPr lang="sr-Cyrl-RS" b="1" baseline="30000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2</a:t>
            </a:r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 у односу на градски садржај</a:t>
            </a:r>
            <a:endParaRPr lang="sr-Cyrl-R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A386D-39A3-2F2A-B68F-3D6574FA7CB2}"/>
              </a:ext>
            </a:extLst>
          </p:cNvPr>
          <p:cNvSpPr txBox="1"/>
          <p:nvPr/>
        </p:nvSpPr>
        <p:spPr>
          <a:xfrm>
            <a:off x="333170" y="230921"/>
            <a:ext cx="2676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ПРОСТОРНА АНАЛИЗА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EB84D2-7C31-6F81-4939-36A09D9A57B7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98C06F4-97B8-E8C3-14BC-65BA5FFFC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67" y="1510020"/>
            <a:ext cx="6784862" cy="4846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D916F6-0EE1-CB7A-04B9-141D3F39C242}"/>
              </a:ext>
            </a:extLst>
          </p:cNvPr>
          <p:cNvSpPr txBox="1"/>
          <p:nvPr/>
        </p:nvSpPr>
        <p:spPr>
          <a:xfrm>
            <a:off x="8167739" y="1865395"/>
            <a:ext cx="3355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Cyrl-RS" sz="1600" b="1" i="0" u="none" strike="noStrike" kern="1200" cap="none" spc="0" normalizeH="0" baseline="0" noProof="1">
                <a:ln>
                  <a:noFill/>
                </a:ln>
                <a:solidFill>
                  <a:srgbClr val="17324D"/>
                </a:solidFill>
                <a:effectLst/>
                <a:uLnTx/>
                <a:uFillTx/>
                <a:latin typeface="Calibri" panose="020F0502020204030204"/>
                <a:ea typeface="Aptos" pitchFamily="34" charset="-122"/>
                <a:cs typeface="Aptos" pitchFamily="34" charset="-120"/>
              </a:rPr>
              <a:t>Анализа дијаграма расејања</a:t>
            </a:r>
            <a:endParaRPr kumimoji="0" lang="sr-Cyrl-RS" sz="1600" b="0" i="0" u="none" strike="noStrike" kern="1200" cap="none" spc="0" normalizeH="0" baseline="0" noProof="1">
              <a:ln>
                <a:noFill/>
              </a:ln>
              <a:solidFill>
                <a:srgbClr val="1F3864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76D53E-A81D-F261-3241-987E89ADE0BD}"/>
              </a:ext>
            </a:extLst>
          </p:cNvPr>
          <p:cNvSpPr txBox="1"/>
          <p:nvPr/>
        </p:nvSpPr>
        <p:spPr>
          <a:xfrm>
            <a:off x="7942439" y="2502024"/>
            <a:ext cx="32727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Cyrl-RS" sz="16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Најстрмији пад линије тренда у првим километрима са удаљавањем од садржаја.</a:t>
            </a:r>
          </a:p>
          <a:p>
            <a:pPr marL="285750" indent="-285750" algn="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Cyrl-RS" sz="16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Густина тачака оглашених станова највећа је у првим километрима, са удаљавањем од садржаја густина се разређује.</a:t>
            </a:r>
            <a:endParaRPr lang="sr-Cyrl-RS" sz="1600" noProof="1"/>
          </a:p>
          <a:p>
            <a:pPr marL="285750" indent="-285750" algn="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Cyrl-RS" sz="1600" noProof="1">
                <a:solidFill>
                  <a:srgbClr val="243746"/>
                </a:solidFill>
                <a:ea typeface="Aptos" pitchFamily="34" charset="-122"/>
                <a:cs typeface="Aptos" pitchFamily="34" charset="-120"/>
              </a:rPr>
              <a:t>Шуме показују специфично кретање линије тренда.</a:t>
            </a:r>
          </a:p>
        </p:txBody>
      </p:sp>
    </p:spTree>
    <p:extLst>
      <p:ext uri="{BB962C8B-B14F-4D97-AF65-F5344CB8AC3E}">
        <p14:creationId xmlns:p14="http://schemas.microsoft.com/office/powerpoint/2010/main" val="377776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D69CE-BCE8-4AF1-AD8D-83490512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8212F-8599-5A86-F2AA-5A6D9CAE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B43250-A97E-391D-DC26-D5B66C91FAE5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1145918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chemeClr val="bg1"/>
                </a:solidFill>
                <a:ea typeface="Aptos Display" pitchFamily="34" charset="-122"/>
                <a:cs typeface="Aptos Display" pitchFamily="34" charset="-120"/>
              </a:rPr>
              <a:t>Од дескриптивне и просторне анализе до креирање модела</a:t>
            </a:r>
            <a:endParaRPr lang="sr-Cyrl-RS" noProof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62B79-DF93-0E47-F481-ED11079B1E4B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МОДЕЛИРАЊЕ</a:t>
            </a:r>
            <a:endParaRPr lang="sr-Cyrl-RS" sz="1400" spc="300" noProof="1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13A6AE-5B93-B546-0832-36EDBDA683FD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CB675D9-C34D-F5CF-3A92-05BD4770EC11}"/>
              </a:ext>
            </a:extLst>
          </p:cNvPr>
          <p:cNvSpPr txBox="1"/>
          <p:nvPr/>
        </p:nvSpPr>
        <p:spPr>
          <a:xfrm>
            <a:off x="815826" y="1651000"/>
            <a:ext cx="10837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2400" b="1" dirty="0">
                <a:solidFill>
                  <a:schemeClr val="bg1"/>
                </a:solidFill>
              </a:rPr>
              <a:t>Поставља се питање: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0F56D5-1C68-530B-0017-212512F1B57A}"/>
              </a:ext>
            </a:extLst>
          </p:cNvPr>
          <p:cNvSpPr txBox="1"/>
          <p:nvPr/>
        </p:nvSpPr>
        <p:spPr>
          <a:xfrm>
            <a:off x="815826" y="2593796"/>
            <a:ext cx="107360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600" b="1" dirty="0">
                <a:solidFill>
                  <a:schemeClr val="bg1"/>
                </a:solidFill>
              </a:rPr>
              <a:t>У којој мери структурне и локацијске карактеристике доприносе предвиђању цене стана?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0D1711-CE15-D199-504A-132AE29F8C87}"/>
              </a:ext>
            </a:extLst>
          </p:cNvPr>
          <p:cNvSpPr/>
          <p:nvPr/>
        </p:nvSpPr>
        <p:spPr>
          <a:xfrm>
            <a:off x="947906" y="4361501"/>
            <a:ext cx="2882414" cy="759139"/>
          </a:xfrm>
          <a:prstGeom prst="roundRect">
            <a:avLst>
              <a:gd name="adj" fmla="val 10640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216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карактеристика стана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1FB2CC-23FB-99B5-8EAA-DBD0186D5C48}"/>
              </a:ext>
            </a:extLst>
          </p:cNvPr>
          <p:cNvSpPr txBox="1"/>
          <p:nvPr/>
        </p:nvSpPr>
        <p:spPr>
          <a:xfrm>
            <a:off x="815826" y="3347313"/>
            <a:ext cx="107360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chemeClr val="bg1"/>
                </a:solidFill>
              </a:rPr>
              <a:t>Креирање модела извршено је на основу: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A7DEC2-F207-27B2-5C3C-A74D91521676}"/>
              </a:ext>
            </a:extLst>
          </p:cNvPr>
          <p:cNvSpPr/>
          <p:nvPr/>
        </p:nvSpPr>
        <p:spPr>
          <a:xfrm>
            <a:off x="4611018" y="4361501"/>
            <a:ext cx="2882414" cy="759139"/>
          </a:xfrm>
          <a:prstGeom prst="roundRect">
            <a:avLst>
              <a:gd name="adj" fmla="val 10640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216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локацијских карактеристика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AC4C56-DACD-532F-5558-59023D9347BC}"/>
              </a:ext>
            </a:extLst>
          </p:cNvPr>
          <p:cNvSpPr/>
          <p:nvPr/>
        </p:nvSpPr>
        <p:spPr>
          <a:xfrm>
            <a:off x="8171666" y="4361501"/>
            <a:ext cx="2882414" cy="759139"/>
          </a:xfrm>
          <a:prstGeom prst="roundRect">
            <a:avLst>
              <a:gd name="adj" fmla="val 10640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комбинацијом ових карактеристика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85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/>
      <p:bldP spid="6" grpId="0"/>
      <p:bldP spid="8" grpId="0"/>
      <p:bldP spid="10" grpId="0"/>
      <p:bldP spid="13" grpId="0" animBg="1"/>
      <p:bldP spid="14" grpId="0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6CE4-6490-9A89-7BC7-E6B95955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F7EC8-7FAA-2E96-F7DA-23385EFE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E231A9-F9B1-C041-A118-3AF222E7CE9A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Random Forest и XGBoost</a:t>
            </a:r>
            <a:endParaRPr lang="sr-Cyrl-R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C1164-0FF5-B029-BD97-CDD63BB9557D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МОДЕЛИРАЊЕ</a:t>
            </a:r>
            <a:endParaRPr lang="sr-Cyrl-RS" sz="1400" spc="300" noProof="1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FBF2D4-C1E5-5EEF-6579-4268200A1A41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44798D-6A13-C9F4-8BD7-72B7CB66D251}"/>
              </a:ext>
            </a:extLst>
          </p:cNvPr>
          <p:cNvSpPr/>
          <p:nvPr/>
        </p:nvSpPr>
        <p:spPr>
          <a:xfrm>
            <a:off x="410183" y="1865395"/>
            <a:ext cx="5435032" cy="337793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pPr algn="ctr"/>
            <a:r>
              <a:rPr lang="en-U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Random Forest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примена bagging технике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савремена техника машинског учења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независно и паралелно тренирање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комбиновање већег броја стабала одлуке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постизање стабилности у предвиђањима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CDF15C-B5A2-F102-CD21-9265724535B9}"/>
              </a:ext>
            </a:extLst>
          </p:cNvPr>
          <p:cNvSpPr/>
          <p:nvPr/>
        </p:nvSpPr>
        <p:spPr>
          <a:xfrm>
            <a:off x="6234178" y="1865394"/>
            <a:ext cx="5435032" cy="337793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pPr algn="ctr">
              <a:spcBef>
                <a:spcPts val="600"/>
              </a:spcBef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XGBoost</a:t>
            </a:r>
            <a:endParaRPr lang="sr-Cyrl-RS" sz="1600" noProof="1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примена boosting технике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напредна техника машинског учења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секвенцијално тренирање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тренирање у наредним итерацијама на основу преходних грешака модела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оптималне перформансе</a:t>
            </a:r>
          </a:p>
        </p:txBody>
      </p:sp>
    </p:spTree>
    <p:extLst>
      <p:ext uri="{BB962C8B-B14F-4D97-AF65-F5344CB8AC3E}">
        <p14:creationId xmlns:p14="http://schemas.microsoft.com/office/powerpoint/2010/main" val="129381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/>
      <p:bldP spid="6" grpId="0"/>
      <p:bldP spid="3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4D99-EFE9-BE63-41D2-FAC6EAF2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7380A-A255-072F-7089-C0B6F7FD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3C16E0-05CF-7C1A-5DB1-891D131BA054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Случајна и просторна унакрсна валидација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83A6C-364B-4619-EE5C-1B2AA994CFD4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1400" b="1" kern="0" spc="3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МОДЕЛИРАЊЕ</a:t>
            </a:r>
            <a:endParaRPr lang="ru-RU" b="1" spc="300" dirty="0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4CEE69-E19F-8D18-39CA-BD2FAE029BE3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51EC3E-A5FB-40AD-AE5F-7D6493DD4791}"/>
              </a:ext>
            </a:extLst>
          </p:cNvPr>
          <p:cNvSpPr/>
          <p:nvPr/>
        </p:nvSpPr>
        <p:spPr>
          <a:xfrm>
            <a:off x="525930" y="1637787"/>
            <a:ext cx="5435032" cy="337793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pPr algn="ctr"/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Случајна унакрсна валидација</a:t>
            </a:r>
          </a:p>
          <a:p>
            <a:endParaRPr lang="sr-Cyrl-RS" sz="1400" noProof="1">
              <a:solidFill>
                <a:srgbClr val="243746"/>
              </a:solidFill>
              <a:ea typeface="Aptos" pitchFamily="34" charset="-122"/>
              <a:cs typeface="Aptos" pitchFamily="34" charset="-120"/>
            </a:endParaRPr>
          </a:p>
          <a:p>
            <a:pPr marL="21600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насумично одабрани подаци за тренинг и тест скуп</a:t>
            </a:r>
          </a:p>
          <a:p>
            <a:pPr marL="21600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„лажно“ оптимистичне перформансе модела </a:t>
            </a:r>
          </a:p>
          <a:p>
            <a:pPr marL="21600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смањење независности између тренинг и тест скупа</a:t>
            </a:r>
          </a:p>
          <a:p>
            <a:pPr marL="21600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неопходна као упоредна анализа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94FFF4-57CF-9BEE-5564-DDF9F71DDDB6}"/>
              </a:ext>
            </a:extLst>
          </p:cNvPr>
          <p:cNvSpPr/>
          <p:nvPr/>
        </p:nvSpPr>
        <p:spPr>
          <a:xfrm>
            <a:off x="6231040" y="1637787"/>
            <a:ext cx="5435032" cy="3377937"/>
          </a:xfrm>
          <a:prstGeom prst="roundRect">
            <a:avLst>
              <a:gd name="adj" fmla="val 4746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pPr algn="ctr"/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Просторна унакрсна валидација</a:t>
            </a:r>
          </a:p>
          <a:p>
            <a:endParaRPr lang="sr-Cyrl-RS" sz="1400" noProof="1">
              <a:solidFill>
                <a:srgbClr val="243746"/>
              </a:solidFill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Cyrl-RS" sz="1400" dirty="0">
                <a:solidFill>
                  <a:srgbClr val="17324D"/>
                </a:solidFill>
              </a:rPr>
              <a:t>формирање мреже 5 х 5 подблокова на основу квантила Х и </a:t>
            </a:r>
            <a:r>
              <a:rPr lang="en-US" sz="1400" dirty="0">
                <a:solidFill>
                  <a:srgbClr val="17324D"/>
                </a:solidFill>
              </a:rPr>
              <a:t>Y</a:t>
            </a:r>
            <a:endParaRPr lang="ru-RU" sz="1400" dirty="0">
              <a:solidFill>
                <a:srgbClr val="17324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спајање подблокова у 5 просторних блокова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просторни блокови користе се за тренинг и тест скуп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већа незавиност између тренинг и тест скупа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7324D"/>
                </a:solidFill>
              </a:rPr>
              <a:t>реалнија и строжија процена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4B643B-E2E5-8AE3-DEBB-CAC4BBAD98C9}"/>
              </a:ext>
            </a:extLst>
          </p:cNvPr>
          <p:cNvSpPr txBox="1"/>
          <p:nvPr/>
        </p:nvSpPr>
        <p:spPr>
          <a:xfrm>
            <a:off x="4685336" y="5573947"/>
            <a:ext cx="2821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b="1" dirty="0">
                <a:solidFill>
                  <a:srgbClr val="17324D"/>
                </a:solidFill>
              </a:rPr>
              <a:t>Метрике: </a:t>
            </a:r>
            <a:r>
              <a:rPr lang="en-US" b="1" dirty="0">
                <a:solidFill>
                  <a:srgbClr val="17324D"/>
                </a:solidFill>
              </a:rPr>
              <a:t>R</a:t>
            </a:r>
            <a:r>
              <a:rPr lang="en-US" b="1" baseline="30000" dirty="0">
                <a:solidFill>
                  <a:srgbClr val="17324D"/>
                </a:solidFill>
              </a:rPr>
              <a:t>2</a:t>
            </a:r>
            <a:r>
              <a:rPr lang="en-US" b="1" dirty="0">
                <a:solidFill>
                  <a:srgbClr val="17324D"/>
                </a:solidFill>
              </a:rPr>
              <a:t>, RMSE, MAE</a:t>
            </a:r>
          </a:p>
        </p:txBody>
      </p:sp>
    </p:spTree>
    <p:extLst>
      <p:ext uri="{BB962C8B-B14F-4D97-AF65-F5344CB8AC3E}">
        <p14:creationId xmlns:p14="http://schemas.microsoft.com/office/powerpoint/2010/main" val="347037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/>
      <p:bldP spid="6" grpId="0"/>
      <p:bldP spid="3" grpId="0" animBg="1"/>
      <p:bldP spid="9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AC636-AF0C-AFEE-C4F7-EA3B723B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48D43-2305-2F73-E5CB-0D54404D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668E17-7255-49A1-0CAB-DE9E1F09BF64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Резултати свих модела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AF35A-B14E-4FD1-B176-F6A74B14DF2E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МОДЕЛИРАЊЕ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B934EB-75C8-AD9C-4D72-08F83FBE85A2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E3C75E-6A11-689E-8BF0-ECF85BAFC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44438"/>
              </p:ext>
            </p:extLst>
          </p:nvPr>
        </p:nvGraphicFramePr>
        <p:xfrm>
          <a:off x="2289621" y="1512965"/>
          <a:ext cx="7149022" cy="4928475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839659">
                  <a:extLst>
                    <a:ext uri="{9D8B030D-6E8A-4147-A177-3AD203B41FA5}">
                      <a16:colId xmlns:a16="http://schemas.microsoft.com/office/drawing/2014/main" val="274749937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69880461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07383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70814444"/>
                    </a:ext>
                  </a:extLst>
                </a:gridCol>
                <a:gridCol w="802226">
                  <a:extLst>
                    <a:ext uri="{9D8B030D-6E8A-4147-A177-3AD203B41FA5}">
                      <a16:colId xmlns:a16="http://schemas.microsoft.com/office/drawing/2014/main" val="3861702062"/>
                    </a:ext>
                  </a:extLst>
                </a:gridCol>
                <a:gridCol w="1072786">
                  <a:extLst>
                    <a:ext uri="{9D8B030D-6E8A-4147-A177-3AD203B41FA5}">
                      <a16:colId xmlns:a16="http://schemas.microsoft.com/office/drawing/2014/main" val="624859793"/>
                    </a:ext>
                  </a:extLst>
                </a:gridCol>
                <a:gridCol w="969791">
                  <a:extLst>
                    <a:ext uri="{9D8B030D-6E8A-4147-A177-3AD203B41FA5}">
                      <a16:colId xmlns:a16="http://schemas.microsoft.com/office/drawing/2014/main" val="1320872411"/>
                    </a:ext>
                  </a:extLst>
                </a:gridCol>
              </a:tblGrid>
              <a:tr h="5629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Редни бр.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chemeClr val="tx1"/>
                          </a:solidFill>
                          <a:effectLst/>
                        </a:rPr>
                        <a:t>Алгоритам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Модел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Валидација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r>
                        <a:rPr lang="en-US" sz="1400" kern="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RMSE</a:t>
                      </a:r>
                      <a:r>
                        <a:rPr lang="sr-Cyrl-RS" sz="1400" kern="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€/m</a:t>
                      </a:r>
                      <a:r>
                        <a:rPr lang="en-US" sz="1400" kern="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sr-Cyrl-R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sr-Cyrl-RS" sz="14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MAE</a:t>
                      </a:r>
                      <a:r>
                        <a:rPr lang="sr-Cyrl-RS" sz="1400" kern="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€/m</a:t>
                      </a:r>
                      <a:r>
                        <a:rPr lang="en-US" sz="1400" kern="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sr-Cyrl-RS" sz="1400" kern="0" baseline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400" kern="0" baseline="30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342405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Само стан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Случајна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0,465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931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673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60780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Само локација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Случајна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0,585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821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572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978522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Стан + Локација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</a:rPr>
                        <a:t>Случајна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0,703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694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470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610625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Само стан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Просторна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0,359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1019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760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191503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5.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Само локација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Просторна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0,465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931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663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730729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6.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Стан + Локација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Просторна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0,579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826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591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749846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7.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XGBoost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Само стан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Просторна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0,378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1004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745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734894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8.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XGBoost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Само локација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Просторна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0,458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937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660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587523"/>
                  </a:ext>
                </a:extLst>
              </a:tr>
              <a:tr h="4850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9.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XGBoost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Стан + Локација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Просторна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0,617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788</a:t>
                      </a:r>
                      <a:endParaRPr lang="en-US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555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515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17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5246E-03A1-065A-ED6F-A3EC0904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EDFFD-B773-9894-E03F-435E3DCF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>
                <a:solidFill>
                  <a:schemeClr val="bg1"/>
                </a:solidFill>
              </a:r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A8DF7C-14C2-F96C-B0B4-596A4245ABCA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noProof="1">
                <a:solidFill>
                  <a:schemeClr val="bg1"/>
                </a:solidFill>
                <a:ea typeface="Aptos Display" pitchFamily="34" charset="-122"/>
                <a:cs typeface="Aptos Display" pitchFamily="34" charset="-120"/>
              </a:rPr>
              <a:t>Најбољи модел и ефекат просторне унакрсне валидације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F8FBF-B84E-DF5A-5256-AC2166A76B1A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chemeClr val="bg1"/>
                </a:solidFill>
              </a:rPr>
              <a:t>МОДЕЛИРАЊЕ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63E4B3-F1D7-4AA7-6BD2-51FCC11BF8D7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DC35F9-6636-DD13-631E-030D3883D165}"/>
              </a:ext>
            </a:extLst>
          </p:cNvPr>
          <p:cNvSpPr txBox="1"/>
          <p:nvPr/>
        </p:nvSpPr>
        <p:spPr>
          <a:xfrm>
            <a:off x="1224220" y="3456550"/>
            <a:ext cx="974355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sr-Cyrl-RS" sz="2400" b="1" noProof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XGBoost · Стан + локација · просторна унакрсна валидација</a:t>
            </a:r>
            <a:endParaRPr lang="sr-Cyrl-RS" sz="2400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B47EA-331F-3BBD-E92B-494A9946759B}"/>
              </a:ext>
            </a:extLst>
          </p:cNvPr>
          <p:cNvSpPr txBox="1"/>
          <p:nvPr/>
        </p:nvSpPr>
        <p:spPr>
          <a:xfrm>
            <a:off x="742376" y="4206768"/>
            <a:ext cx="10984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Резултати просторне унакрсне валидације лошији су у односу на случајну, али указују на реалнију процену предвиђања.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7105B-D92C-E2F9-61A0-23882F594ADF}"/>
              </a:ext>
            </a:extLst>
          </p:cNvPr>
          <p:cNvSpPr txBox="1"/>
          <p:nvPr/>
        </p:nvSpPr>
        <p:spPr>
          <a:xfrm>
            <a:off x="1928047" y="4818486"/>
            <a:ext cx="8335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Само локација објашњава више варијације цена по m</a:t>
            </a:r>
            <a:r>
              <a:rPr lang="ru-RU" sz="1600" b="1" baseline="30000" dirty="0">
                <a:solidFill>
                  <a:schemeClr val="bg1"/>
                </a:solidFill>
              </a:rPr>
              <a:t>2</a:t>
            </a:r>
            <a:r>
              <a:rPr lang="ru-RU" sz="1600" b="1" dirty="0">
                <a:solidFill>
                  <a:schemeClr val="bg1"/>
                </a:solidFill>
              </a:rPr>
              <a:t> него само структура стана.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Комбинација структурних и локацијских карактеристика најбоље објашњавају варијације на тржишту града Београда.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A5390E-BCCB-5C70-6940-DD3B960BF179}"/>
              </a:ext>
            </a:extLst>
          </p:cNvPr>
          <p:cNvSpPr/>
          <p:nvPr/>
        </p:nvSpPr>
        <p:spPr>
          <a:xfrm>
            <a:off x="1778146" y="1772509"/>
            <a:ext cx="2663757" cy="107635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20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0,617</a:t>
            </a:r>
            <a:endParaRPr lang="sr-Latn-RS" sz="2000" b="1" noProof="1">
              <a:solidFill>
                <a:srgbClr val="17324D"/>
              </a:solidFill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sr-Latn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R</a:t>
            </a:r>
            <a:r>
              <a:rPr lang="sr-Latn-RS" sz="1400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r>
              <a:rPr lang="sr-Cyrl-RS" sz="12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650AC1-9321-DB48-BB66-48C108531A1B}"/>
              </a:ext>
            </a:extLst>
          </p:cNvPr>
          <p:cNvSpPr/>
          <p:nvPr/>
        </p:nvSpPr>
        <p:spPr>
          <a:xfrm>
            <a:off x="4858571" y="1770745"/>
            <a:ext cx="2663757" cy="1076352"/>
          </a:xfrm>
          <a:prstGeom prst="roundRect">
            <a:avLst>
              <a:gd name="adj" fmla="val 1197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20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788 €/m</a:t>
            </a:r>
            <a:r>
              <a:rPr lang="sr-Cyrl-RS" sz="2000" b="1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2000" baseline="30000" noProof="1">
              <a:solidFill>
                <a:srgbClr val="17324D"/>
              </a:solidFill>
            </a:endParaRPr>
          </a:p>
          <a:p>
            <a:pPr algn="ctr"/>
            <a:r>
              <a:rPr lang="sr-Latn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RMSE</a:t>
            </a:r>
            <a:endParaRPr lang="sr-Cyrl-RS" sz="1200" baseline="30000" noProof="1">
              <a:solidFill>
                <a:srgbClr val="17324D"/>
              </a:solidFill>
            </a:endParaRP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D73E46-0EB2-3C15-1594-530BC89572DD}"/>
              </a:ext>
            </a:extLst>
          </p:cNvPr>
          <p:cNvSpPr/>
          <p:nvPr/>
        </p:nvSpPr>
        <p:spPr>
          <a:xfrm>
            <a:off x="7938996" y="1764281"/>
            <a:ext cx="2663757" cy="1076352"/>
          </a:xfrm>
          <a:prstGeom prst="roundRect">
            <a:avLst>
              <a:gd name="adj" fmla="val 1107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sr-Cyrl-RS" sz="20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555 €/m</a:t>
            </a:r>
            <a:r>
              <a:rPr lang="sr-Cyrl-RS" sz="2000" b="1" baseline="300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sr-Cyrl-RS" sz="2000" baseline="30000" noProof="1">
              <a:solidFill>
                <a:srgbClr val="17324D"/>
              </a:solidFill>
            </a:endParaRPr>
          </a:p>
          <a:p>
            <a:pPr algn="ctr"/>
            <a:r>
              <a:rPr lang="sr-Latn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MAE</a:t>
            </a:r>
            <a:endParaRPr lang="sr-Cyrl-RS" sz="1200" noProof="1">
              <a:solidFill>
                <a:srgbClr val="17324D"/>
              </a:solidFill>
            </a:endParaRP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83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12" grpId="0"/>
      <p:bldP spid="14" grpId="0" animBg="1"/>
      <p:bldP spid="16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BE6A-A753-C651-FF89-D80AD5D0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85238-F936-803A-5975-6CFF9115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3EC4D3-1925-4C45-58CF-29393A5D9C8B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1145918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Графикон нормализоване пермутационе важности у комбинованом моделу</a:t>
            </a:r>
            <a:endParaRPr lang="ru-RU" b="1" baseline="30000" noProof="1">
              <a:solidFill>
                <a:srgbClr val="17324D"/>
              </a:solidFill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35436-A40E-3E63-BE04-FDD0E8BEADE5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МОДЕЛИРАЊЕ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F6D71E-23FF-2AC7-7591-39345DC52888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68F6601-31FA-3BBC-70AF-D5BDAF4F6F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3"/>
          <a:stretch>
            <a:fillRect/>
          </a:stretch>
        </p:blipFill>
        <p:spPr bwMode="auto">
          <a:xfrm>
            <a:off x="5395150" y="1865395"/>
            <a:ext cx="6409055" cy="421081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E2F821-C6B1-6D1C-DC1C-4C592E46D420}"/>
              </a:ext>
            </a:extLst>
          </p:cNvPr>
          <p:cNvSpPr txBox="1"/>
          <p:nvPr/>
        </p:nvSpPr>
        <p:spPr>
          <a:xfrm>
            <a:off x="467952" y="1496063"/>
            <a:ext cx="5111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17324D"/>
                </a:solidFill>
              </a:rPr>
              <a:t>Локацијски предиктори имају највећу важност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F78DD-B9C6-6181-6F91-7E5412C6A9BC}"/>
              </a:ext>
            </a:extLst>
          </p:cNvPr>
          <p:cNvSpPr txBox="1"/>
          <p:nvPr/>
        </p:nvSpPr>
        <p:spPr>
          <a:xfrm>
            <a:off x="467952" y="2078296"/>
            <a:ext cx="811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Центар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13C99-B3D9-3F75-6F69-FF3C37678B72}"/>
              </a:ext>
            </a:extLst>
          </p:cNvPr>
          <p:cNvSpPr txBox="1"/>
          <p:nvPr/>
        </p:nvSpPr>
        <p:spPr>
          <a:xfrm>
            <a:off x="467952" y="2584974"/>
            <a:ext cx="766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Школе</a:t>
            </a:r>
            <a:endParaRPr lang="sr-Cyrl-RS" dirty="0">
              <a:solidFill>
                <a:srgbClr val="17324D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FA0F6-78EB-1CA8-C978-1028AA09A2B6}"/>
              </a:ext>
            </a:extLst>
          </p:cNvPr>
          <p:cNvSpPr txBox="1"/>
          <p:nvPr/>
        </p:nvSpPr>
        <p:spPr>
          <a:xfrm>
            <a:off x="486091" y="3091653"/>
            <a:ext cx="16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Установе културе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D849D4-8C6B-1104-A447-6689DB0F12F8}"/>
              </a:ext>
            </a:extLst>
          </p:cNvPr>
          <p:cNvSpPr txBox="1"/>
          <p:nvPr/>
        </p:nvSpPr>
        <p:spPr>
          <a:xfrm>
            <a:off x="486091" y="3598331"/>
            <a:ext cx="1368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Координата </a:t>
            </a:r>
            <a:r>
              <a:rPr lang="sr-Latn-RS" sz="1600" dirty="0">
                <a:solidFill>
                  <a:srgbClr val="17324D"/>
                </a:solidFill>
              </a:rPr>
              <a:t>Y</a:t>
            </a:r>
            <a:endParaRPr lang="sr-Cyrl-RS" sz="1600" dirty="0">
              <a:solidFill>
                <a:srgbClr val="17324D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A04F0D-4094-9E55-FB25-F70F77A586E6}"/>
              </a:ext>
            </a:extLst>
          </p:cNvPr>
          <p:cNvSpPr txBox="1"/>
          <p:nvPr/>
        </p:nvSpPr>
        <p:spPr>
          <a:xfrm>
            <a:off x="486091" y="4129290"/>
            <a:ext cx="614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Воде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FFC971-EF8F-E9A1-9C76-6E96F9A40777}"/>
              </a:ext>
            </a:extLst>
          </p:cNvPr>
          <p:cNvSpPr txBox="1"/>
          <p:nvPr/>
        </p:nvSpPr>
        <p:spPr>
          <a:xfrm>
            <a:off x="486091" y="4660249"/>
            <a:ext cx="1375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Координата 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9958B4-4DF6-7851-4D0D-4F2C9D745A1A}"/>
              </a:ext>
            </a:extLst>
          </p:cNvPr>
          <p:cNvSpPr txBox="1"/>
          <p:nvPr/>
        </p:nvSpPr>
        <p:spPr>
          <a:xfrm>
            <a:off x="467952" y="5197147"/>
            <a:ext cx="974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Општина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F33F8A-A6E7-7DCE-1A48-B010FF272AEE}"/>
              </a:ext>
            </a:extLst>
          </p:cNvPr>
          <p:cNvSpPr txBox="1"/>
          <p:nvPr/>
        </p:nvSpPr>
        <p:spPr>
          <a:xfrm>
            <a:off x="486091" y="5865452"/>
            <a:ext cx="6093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17324D"/>
                </a:solidFill>
              </a:rPr>
              <a:t>12 од 15 предиктора су локацијски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461C2F-C5CC-FBAF-D98C-2D9A0866580C}"/>
              </a:ext>
            </a:extLst>
          </p:cNvPr>
          <p:cNvSpPr txBox="1"/>
          <p:nvPr/>
        </p:nvSpPr>
        <p:spPr>
          <a:xfrm>
            <a:off x="4330050" y="2078296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17,4%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8D7E58-4C38-464E-6047-966CB7647E00}"/>
              </a:ext>
            </a:extLst>
          </p:cNvPr>
          <p:cNvSpPr txBox="1"/>
          <p:nvPr/>
        </p:nvSpPr>
        <p:spPr>
          <a:xfrm>
            <a:off x="4339384" y="2584974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10,4%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E9E845-817A-99FA-47F0-A3B0ED532980}"/>
              </a:ext>
            </a:extLst>
          </p:cNvPr>
          <p:cNvSpPr txBox="1"/>
          <p:nvPr/>
        </p:nvSpPr>
        <p:spPr>
          <a:xfrm>
            <a:off x="4339384" y="3086614"/>
            <a:ext cx="591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7,7%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9E486B-EF74-1821-A976-57D324014F99}"/>
              </a:ext>
            </a:extLst>
          </p:cNvPr>
          <p:cNvSpPr txBox="1"/>
          <p:nvPr/>
        </p:nvSpPr>
        <p:spPr>
          <a:xfrm>
            <a:off x="4330050" y="3598331"/>
            <a:ext cx="591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7,4%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479682-134C-F9B4-9F57-CADF35EF255E}"/>
              </a:ext>
            </a:extLst>
          </p:cNvPr>
          <p:cNvSpPr txBox="1"/>
          <p:nvPr/>
        </p:nvSpPr>
        <p:spPr>
          <a:xfrm>
            <a:off x="4330050" y="4129290"/>
            <a:ext cx="591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7,1%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3F0EA-0DFC-31D0-2914-D2E74581FD20}"/>
              </a:ext>
            </a:extLst>
          </p:cNvPr>
          <p:cNvSpPr txBox="1"/>
          <p:nvPr/>
        </p:nvSpPr>
        <p:spPr>
          <a:xfrm>
            <a:off x="4330050" y="4660249"/>
            <a:ext cx="591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6,7%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296C00-F56E-0DE8-086E-1FCAB619692A}"/>
              </a:ext>
            </a:extLst>
          </p:cNvPr>
          <p:cNvSpPr txBox="1"/>
          <p:nvPr/>
        </p:nvSpPr>
        <p:spPr>
          <a:xfrm>
            <a:off x="4339384" y="5168961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1600" dirty="0">
                <a:solidFill>
                  <a:srgbClr val="17324D"/>
                </a:solidFill>
              </a:rPr>
              <a:t>6%</a:t>
            </a:r>
          </a:p>
        </p:txBody>
      </p:sp>
    </p:spTree>
    <p:extLst>
      <p:ext uri="{BB962C8B-B14F-4D97-AF65-F5344CB8AC3E}">
        <p14:creationId xmlns:p14="http://schemas.microsoft.com/office/powerpoint/2010/main" val="176555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0" grpId="0"/>
      <p:bldP spid="14" grpId="0"/>
      <p:bldP spid="16" grpId="0"/>
      <p:bldP spid="24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40" grpId="0"/>
      <p:bldP spid="42" grpId="0"/>
      <p:bldP spid="44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3DED-8C26-5301-AC70-6AD6D5FF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9927E-4469-9E01-9110-BC20B904B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497F9C-16F5-D4DC-E55F-798BC03E8A84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Просторна аутокорелација резидуала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51621-CEC9-CC73-8296-906040E61D4F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МОДЕЛИРАЊЕ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3F08AB-ACF9-50F0-6D87-A42B3691E79F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5969895-2214-A9AA-3DD7-4AE9210540A2}"/>
              </a:ext>
            </a:extLst>
          </p:cNvPr>
          <p:cNvSpPr txBox="1"/>
          <p:nvPr/>
        </p:nvSpPr>
        <p:spPr>
          <a:xfrm>
            <a:off x="6789906" y="1865395"/>
            <a:ext cx="4753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b="1" dirty="0">
                <a:solidFill>
                  <a:srgbClr val="17324D"/>
                </a:solidFill>
              </a:rPr>
              <a:t>Анализа резултата: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1BB8E3-648A-A8F3-7F33-BA91DEB97157}"/>
              </a:ext>
            </a:extLst>
          </p:cNvPr>
          <p:cNvSpPr txBox="1"/>
          <p:nvPr/>
        </p:nvSpPr>
        <p:spPr>
          <a:xfrm>
            <a:off x="6789906" y="2351782"/>
            <a:ext cx="42844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solidFill>
                  <a:srgbClr val="17324D"/>
                </a:solidFill>
              </a:rPr>
              <a:t>Укључивањем </a:t>
            </a:r>
            <a:r>
              <a:rPr lang="ru-RU" sz="1600" b="1" dirty="0">
                <a:solidFill>
                  <a:srgbClr val="17324D"/>
                </a:solidFill>
              </a:rPr>
              <a:t>локацијских карактеристика</a:t>
            </a:r>
            <a:r>
              <a:rPr lang="ru-RU" sz="1600" dirty="0">
                <a:solidFill>
                  <a:srgbClr val="17324D"/>
                </a:solidFill>
              </a:rPr>
              <a:t>, вредност индекса се смањује, чиме се смањује просторна аутокорелација резидуала модела.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0BE84F-F714-3AE2-B2F7-C8B98C3E1C33}"/>
              </a:ext>
            </a:extLst>
          </p:cNvPr>
          <p:cNvSpPr txBox="1"/>
          <p:nvPr/>
        </p:nvSpPr>
        <p:spPr>
          <a:xfrm>
            <a:off x="6789904" y="3546055"/>
            <a:ext cx="4284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solidFill>
                  <a:srgbClr val="17324D"/>
                </a:solidFill>
              </a:rPr>
              <a:t>Код </a:t>
            </a:r>
            <a:r>
              <a:rPr lang="ru-RU" sz="1600" b="1" dirty="0">
                <a:solidFill>
                  <a:srgbClr val="17324D"/>
                </a:solidFill>
              </a:rPr>
              <a:t>Комбинованих модела </a:t>
            </a:r>
            <a:r>
              <a:rPr lang="ru-RU" sz="1600" dirty="0">
                <a:solidFill>
                  <a:srgbClr val="17324D"/>
                </a:solidFill>
              </a:rPr>
              <a:t>незнатно се мења вредност индекса у односу на моделе „Само локација“.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C4402-CE27-E897-9B55-C9420DF96B4D}"/>
              </a:ext>
            </a:extLst>
          </p:cNvPr>
          <p:cNvSpPr txBox="1"/>
          <p:nvPr/>
        </p:nvSpPr>
        <p:spPr>
          <a:xfrm>
            <a:off x="6789904" y="4577301"/>
            <a:ext cx="4284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solidFill>
                  <a:srgbClr val="17324D"/>
                </a:solidFill>
              </a:rPr>
              <a:t>Случајна унакрсна валидација и у овом случају даје оптимистичне резултате због </a:t>
            </a:r>
            <a:r>
              <a:rPr lang="ru-RU" sz="1600" b="1" dirty="0">
                <a:solidFill>
                  <a:srgbClr val="17324D"/>
                </a:solidFill>
              </a:rPr>
              <a:t>сличности</a:t>
            </a:r>
            <a:r>
              <a:rPr lang="ru-RU" sz="1600" dirty="0">
                <a:solidFill>
                  <a:srgbClr val="17324D"/>
                </a:solidFill>
              </a:rPr>
              <a:t> података у тренинг и тест скупу.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84272F4-6172-57C1-25D8-EA304ADA8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449376"/>
              </p:ext>
            </p:extLst>
          </p:nvPr>
        </p:nvGraphicFramePr>
        <p:xfrm>
          <a:off x="553847" y="1574722"/>
          <a:ext cx="5938393" cy="4718826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41315686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26699974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11722054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546335052"/>
                    </a:ext>
                  </a:extLst>
                </a:gridCol>
                <a:gridCol w="1618393">
                  <a:extLst>
                    <a:ext uri="{9D8B030D-6E8A-4147-A177-3AD203B41FA5}">
                      <a16:colId xmlns:a16="http://schemas.microsoft.com/office/drawing/2014/main" val="250894968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Редни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бр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Алго</a:t>
                      </a:r>
                      <a:r>
                        <a:rPr lang="sr-Cyrl-RS" sz="1400" kern="100">
                          <a:effectLst/>
                          <a:latin typeface="+mn-lt"/>
                        </a:rPr>
                        <a:t>р</a:t>
                      </a:r>
                      <a:r>
                        <a:rPr lang="en-US" sz="1400" kern="100">
                          <a:effectLst/>
                          <a:latin typeface="+mn-lt"/>
                        </a:rPr>
                        <a:t>итам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Модел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Валидација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Глобални Моранов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 </a:t>
                      </a: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индекс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7933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 Forest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  <a:latin typeface="+mn-lt"/>
                        </a:rPr>
                        <a:t>Само</a:t>
                      </a:r>
                      <a:r>
                        <a:rPr lang="en-US" sz="14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+mn-lt"/>
                        </a:rPr>
                        <a:t>стан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Случајна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0,372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5097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 Forest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Само локација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Случајна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-0,069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7138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 Forest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  <a:latin typeface="+mn-lt"/>
                        </a:rPr>
                        <a:t>Стан</a:t>
                      </a:r>
                      <a:r>
                        <a:rPr lang="en-US" sz="1400" kern="100" dirty="0">
                          <a:effectLst/>
                          <a:latin typeface="+mn-lt"/>
                        </a:rPr>
                        <a:t> + </a:t>
                      </a:r>
                      <a:r>
                        <a:rPr lang="en-US" sz="1400" kern="100" dirty="0" err="1">
                          <a:effectLst/>
                          <a:latin typeface="+mn-lt"/>
                        </a:rPr>
                        <a:t>Локација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Случајна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0,026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0224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 Forest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  <a:latin typeface="+mn-lt"/>
                        </a:rPr>
                        <a:t>Само</a:t>
                      </a:r>
                      <a:r>
                        <a:rPr lang="en-US" sz="14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+mn-lt"/>
                        </a:rPr>
                        <a:t>стан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Просторна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0,419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1931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 Forest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Само локација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Просторна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0,2</a:t>
                      </a: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sr-Latn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8572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 Forest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Стан + Локација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Просторна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0,210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01551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XGBoost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Само стан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Просторна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0,3</a:t>
                      </a:r>
                      <a:r>
                        <a:rPr lang="sr-Latn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37811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XGBoost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Само локација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Просторна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</a:t>
                      </a:r>
                      <a:r>
                        <a:rPr lang="sr-Latn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210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7226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  <a:latin typeface="+mn-lt"/>
                        </a:rPr>
                        <a:t>XGBoost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Стан + Локација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Просторна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sr-Cyrl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0,2</a:t>
                      </a:r>
                      <a:r>
                        <a:rPr lang="sr-Latn-RS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en-US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13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58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1" grpId="0"/>
      <p:bldP spid="13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340D-2A6B-7443-201A-B9346E00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0219E-9D45-F8A0-1014-B2C36A5D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AE77AD-5538-4FEB-A657-6AB126A02B43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Просторни распоред резидуала</a:t>
            </a:r>
            <a:endParaRPr lang="sr-Cyrl-R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AA93B-4F7B-77FD-6155-9D2B252B5AD6}"/>
              </a:ext>
            </a:extLst>
          </p:cNvPr>
          <p:cNvSpPr txBox="1"/>
          <p:nvPr/>
        </p:nvSpPr>
        <p:spPr>
          <a:xfrm>
            <a:off x="333171" y="230921"/>
            <a:ext cx="2059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МОДЕЛИРАЊЕ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3069FE-87B7-4935-408F-BA3743939F7E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04B664-7820-7BB0-1675-EB62CE663309}"/>
              </a:ext>
            </a:extLst>
          </p:cNvPr>
          <p:cNvSpPr txBox="1"/>
          <p:nvPr/>
        </p:nvSpPr>
        <p:spPr>
          <a:xfrm>
            <a:off x="531670" y="6031217"/>
            <a:ext cx="55643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Плаво: прецењене вредности</a:t>
            </a:r>
            <a:endParaRPr lang="sr-Cyrl-RS" sz="1600" noProof="1">
              <a:solidFill>
                <a:srgbClr val="1732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344EE-9E37-F04C-0B98-C6F30A67ADC0}"/>
              </a:ext>
            </a:extLst>
          </p:cNvPr>
          <p:cNvSpPr txBox="1"/>
          <p:nvPr/>
        </p:nvSpPr>
        <p:spPr>
          <a:xfrm>
            <a:off x="6095999" y="6012933"/>
            <a:ext cx="5242617" cy="34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sr-Cyrl-RS" sz="1600" b="1" noProof="1">
                <a:solidFill>
                  <a:srgbClr val="B44747"/>
                </a:solidFill>
                <a:ea typeface="Aptos" pitchFamily="34" charset="-122"/>
                <a:cs typeface="Aptos" pitchFamily="34" charset="-120"/>
              </a:rPr>
              <a:t>Црвено: потцењене вредности</a:t>
            </a:r>
            <a:endParaRPr lang="sr-Cyrl-RS" sz="1600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D9AA3A-7327-D7E5-F6BF-55076E4C3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360" y="1418390"/>
            <a:ext cx="6003240" cy="45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7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3B46-18A5-1B45-9D0A-479980AA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6CD05-35AA-8B4A-F61B-11F4E252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83C390-0374-B20E-FDA6-ECD6C84C40B2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Испитивање локацијског премијума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DC21F-1AEE-A7A9-C547-A873F5B6E72D}"/>
              </a:ext>
            </a:extLst>
          </p:cNvPr>
          <p:cNvSpPr txBox="1"/>
          <p:nvPr/>
        </p:nvSpPr>
        <p:spPr>
          <a:xfrm>
            <a:off x="333171" y="230921"/>
            <a:ext cx="3353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ЛОКАЦИЈСКИ ПРЕМИЈУМ</a:t>
            </a:r>
            <a:endParaRPr lang="ru-RU" sz="1600" b="1" spc="300" dirty="0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1A8CF5-49AB-CF01-F0E8-8827872D7E1D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FB2E7BF-B64C-77B2-DBDB-9275064BC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83" y="2558470"/>
            <a:ext cx="5352435" cy="4163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7214B2-381E-837D-926A-070F754FDA8E}"/>
              </a:ext>
            </a:extLst>
          </p:cNvPr>
          <p:cNvSpPr txBox="1"/>
          <p:nvPr/>
        </p:nvSpPr>
        <p:spPr>
          <a:xfrm>
            <a:off x="7123943" y="4499156"/>
            <a:ext cx="3956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17324D"/>
                </a:solidFill>
              </a:rPr>
              <a:t>Само промена локације истог референтног стана, ствара распон од 145,02 процентна поена.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E47221-696C-98FA-EC80-044BA615290E}"/>
              </a:ext>
            </a:extLst>
          </p:cNvPr>
          <p:cNvSpPr/>
          <p:nvPr/>
        </p:nvSpPr>
        <p:spPr>
          <a:xfrm>
            <a:off x="1255679" y="1513028"/>
            <a:ext cx="4619827" cy="929273"/>
          </a:xfrm>
          <a:prstGeom prst="roundRect">
            <a:avLst>
              <a:gd name="adj" fmla="val 17859"/>
            </a:avLst>
          </a:prstGeom>
          <a:solidFill>
            <a:srgbClr val="EFF4F6"/>
          </a:solidFill>
          <a:ln>
            <a:solidFill>
              <a:srgbClr val="EF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b="1" dirty="0">
                <a:solidFill>
                  <a:srgbClr val="17324D"/>
                </a:solidFill>
              </a:rPr>
              <a:t>до +82,31%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400" b="1" dirty="0">
                <a:solidFill>
                  <a:srgbClr val="17324D"/>
                </a:solidFill>
              </a:rPr>
              <a:t>централни делови града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CFED60-35F3-C4EF-03E3-0D7DAE907424}"/>
              </a:ext>
            </a:extLst>
          </p:cNvPr>
          <p:cNvSpPr/>
          <p:nvPr/>
        </p:nvSpPr>
        <p:spPr>
          <a:xfrm>
            <a:off x="6096000" y="1513028"/>
            <a:ext cx="4619827" cy="929273"/>
          </a:xfrm>
          <a:prstGeom prst="roundRect">
            <a:avLst>
              <a:gd name="adj" fmla="val 17859"/>
            </a:avLst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b="1" dirty="0">
                <a:solidFill>
                  <a:schemeClr val="bg1"/>
                </a:solidFill>
              </a:rPr>
              <a:t>до -62,71%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400" dirty="0">
                <a:solidFill>
                  <a:schemeClr val="bg1"/>
                </a:solidFill>
              </a:rPr>
              <a:t>периферија и приградске општине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9483D3-3DAB-A6BC-4AE4-E13F199A0C58}"/>
              </a:ext>
            </a:extLst>
          </p:cNvPr>
          <p:cNvSpPr txBox="1"/>
          <p:nvPr/>
        </p:nvSpPr>
        <p:spPr>
          <a:xfrm>
            <a:off x="7730706" y="3401282"/>
            <a:ext cx="27432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7324D"/>
                </a:solidFill>
              </a:rPr>
              <a:t>3.532</a:t>
            </a:r>
            <a:r>
              <a:rPr lang="sr-Cyrl-RS" b="1" dirty="0">
                <a:solidFill>
                  <a:srgbClr val="17324D"/>
                </a:solidFill>
              </a:rPr>
              <a:t>,219</a:t>
            </a:r>
            <a:r>
              <a:rPr lang="en-US" b="1" dirty="0">
                <a:solidFill>
                  <a:srgbClr val="17324D"/>
                </a:solidFill>
              </a:rPr>
              <a:t> €/m</a:t>
            </a:r>
            <a:r>
              <a:rPr lang="sr-Cyrl-RS" b="1" baseline="30000" dirty="0">
                <a:solidFill>
                  <a:srgbClr val="17324D"/>
                </a:solidFill>
              </a:rPr>
              <a:t>2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400" dirty="0">
                <a:solidFill>
                  <a:srgbClr val="17324D"/>
                </a:solidFill>
              </a:rPr>
              <a:t>медијана референтног стана</a:t>
            </a:r>
            <a:endParaRPr lang="en-US" sz="1400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71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1" grpId="0" animBg="1"/>
      <p:bldP spid="13" grpId="0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8803-B00C-4313-A687-27D04C6C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EE3A-A132-84A7-283C-9F7AD675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42A2D2-A18F-C314-36C6-A43941365779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Статистика локацијског премијума по општинама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579B-D5FA-0048-7FC8-6E408F0CD68D}"/>
              </a:ext>
            </a:extLst>
          </p:cNvPr>
          <p:cNvSpPr txBox="1"/>
          <p:nvPr/>
        </p:nvSpPr>
        <p:spPr>
          <a:xfrm>
            <a:off x="333170" y="230921"/>
            <a:ext cx="3732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ЛОКАЦИЈСКИ ПРЕМИЈУМ</a:t>
            </a:r>
            <a:endParaRPr lang="ru-RU" sz="1600" b="1" spc="300" dirty="0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AF578E-1006-9B0A-4CB1-8BE0537C2539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27A62F8-4E78-85DC-3005-3B9B66CE8FB2}"/>
              </a:ext>
            </a:extLst>
          </p:cNvPr>
          <p:cNvSpPr txBox="1"/>
          <p:nvPr/>
        </p:nvSpPr>
        <p:spPr>
          <a:xfrm>
            <a:off x="6624320" y="2257915"/>
            <a:ext cx="403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>
                <a:solidFill>
                  <a:srgbClr val="17324D"/>
                </a:solidFill>
              </a:rPr>
              <a:t>Општине у ужем делу града имају махом позитиван премијум.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7C88C1-D9B2-ED0E-84AA-5940CF595F66}"/>
              </a:ext>
            </a:extLst>
          </p:cNvPr>
          <p:cNvSpPr txBox="1"/>
          <p:nvPr/>
        </p:nvSpPr>
        <p:spPr>
          <a:xfrm>
            <a:off x="6624320" y="3111457"/>
            <a:ext cx="4729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solidFill>
                  <a:srgbClr val="17324D"/>
                </a:solidFill>
              </a:rPr>
              <a:t>Удаљавањем од градског језгра, премијум постаје из благо негативног за општине у ширем делу града у изразито негативан у приградским општинама.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C4BC7-12B9-8541-7F47-8CBF29F6BCB7}"/>
              </a:ext>
            </a:extLst>
          </p:cNvPr>
          <p:cNvSpPr txBox="1"/>
          <p:nvPr/>
        </p:nvSpPr>
        <p:spPr>
          <a:xfrm>
            <a:off x="6624320" y="4211222"/>
            <a:ext cx="4729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solidFill>
                  <a:srgbClr val="17324D"/>
                </a:solidFill>
              </a:rPr>
              <a:t>Резултате за општине са врло малим узорком треба тумачити као индикативне: Лазаревац 1, Сопот 6, Обреновац 12 и Барајево 15 оглашених станова.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DC60226-61D5-343A-1CEF-886EA8B59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976772"/>
              </p:ext>
            </p:extLst>
          </p:nvPr>
        </p:nvGraphicFramePr>
        <p:xfrm>
          <a:off x="410183" y="1452928"/>
          <a:ext cx="5867276" cy="5174151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466819">
                  <a:extLst>
                    <a:ext uri="{9D8B030D-6E8A-4147-A177-3AD203B41FA5}">
                      <a16:colId xmlns:a16="http://schemas.microsoft.com/office/drawing/2014/main" val="4131568680"/>
                    </a:ext>
                  </a:extLst>
                </a:gridCol>
                <a:gridCol w="1779175">
                  <a:extLst>
                    <a:ext uri="{9D8B030D-6E8A-4147-A177-3AD203B41FA5}">
                      <a16:colId xmlns:a16="http://schemas.microsoft.com/office/drawing/2014/main" val="1266999749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2117220546"/>
                    </a:ext>
                  </a:extLst>
                </a:gridCol>
                <a:gridCol w="1239522">
                  <a:extLst>
                    <a:ext uri="{9D8B030D-6E8A-4147-A177-3AD203B41FA5}">
                      <a16:colId xmlns:a16="http://schemas.microsoft.com/office/drawing/2014/main" val="2546335052"/>
                    </a:ext>
                  </a:extLst>
                </a:gridCol>
              </a:tblGrid>
              <a:tr h="8141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Назив општине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Број </a:t>
                      </a:r>
                      <a:r>
                        <a:rPr lang="sr-Cyrl-RS" sz="1400" b="1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јединствених локација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sr-Cyrl-RS" sz="1400" b="1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Медијана</a:t>
                      </a: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цена (€) по </a:t>
                      </a:r>
                      <a:r>
                        <a:rPr lang="sr-Cyrl-R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sr-Cyrl-RS" sz="1400" b="1" kern="100" baseline="30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Премијум у %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793308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Стари град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4.875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+38,00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509769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Савски венац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4.636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+31,20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71383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Врачар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4.305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+21,90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022403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Нови Београд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3.818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+8,08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193128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Звездара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-7,89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857226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Вождовац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-8,00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015516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Земун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3.185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-9,82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378119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Палилула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674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3.090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-12,50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72263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Чукарица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497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3.024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-14,40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13985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Раковица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2.783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-21,20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282018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Сурчин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2.419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-31,50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231582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Гроцка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2.171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-38,60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270256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Сопот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2.029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-42,60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559561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Обреновац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1.965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-44,40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303955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Младеновац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-48,60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71586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Лазаревац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1.720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-51,30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685046"/>
                  </a:ext>
                </a:extLst>
              </a:tr>
              <a:tr h="2564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Барајево</a:t>
                      </a:r>
                      <a:endParaRPr lang="en-US" sz="14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1.365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-61,30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50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87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3" grpId="0"/>
      <p:bldP spid="15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5C05-3389-2C91-C800-5C578771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32D4E-8376-020F-7A0F-83825D39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6EE275-7C1E-F75A-1553-63628E7B2BDA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Графикон локацијског премијума у зависности од удаљености од садржаја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0E5E7-35DA-CCDA-D87B-26EAAC33004B}"/>
              </a:ext>
            </a:extLst>
          </p:cNvPr>
          <p:cNvSpPr txBox="1"/>
          <p:nvPr/>
        </p:nvSpPr>
        <p:spPr>
          <a:xfrm>
            <a:off x="333171" y="230921"/>
            <a:ext cx="3752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ЛОКАЦИЈСКИ ПРЕМИЈУМ</a:t>
            </a:r>
            <a:endParaRPr lang="ru-RU" sz="1600" b="1" spc="300" dirty="0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C47BE9-9FF1-E99D-F8F8-9A108FA9FBC5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B075EC1-131D-B6BD-6E23-5A0761EB87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" y="1288916"/>
            <a:ext cx="6370320" cy="551957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EB537A-D1F1-7D0E-BFE4-BFA2B33756A6}"/>
              </a:ext>
            </a:extLst>
          </p:cNvPr>
          <p:cNvSpPr txBox="1"/>
          <p:nvPr/>
        </p:nvSpPr>
        <p:spPr>
          <a:xfrm>
            <a:off x="7538720" y="2368684"/>
            <a:ext cx="40335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Cyrl-RS" sz="1600" dirty="0">
                <a:solidFill>
                  <a:srgbClr val="17324D"/>
                </a:solidFill>
              </a:rPr>
              <a:t>вредности медијане локацијског премијума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Cyrl-RS" sz="1600" dirty="0">
                <a:solidFill>
                  <a:srgbClr val="17324D"/>
                </a:solidFill>
              </a:rPr>
              <a:t>просечно растојање од градског садржаја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A4DE0D-3E32-9925-2C66-7E12AE9DC1B1}"/>
              </a:ext>
            </a:extLst>
          </p:cNvPr>
          <p:cNvSpPr txBox="1"/>
          <p:nvPr/>
        </p:nvSpPr>
        <p:spPr>
          <a:xfrm>
            <a:off x="7365243" y="1865395"/>
            <a:ext cx="2616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На интервалу од 0,5 </a:t>
            </a:r>
            <a:r>
              <a:rPr lang="sr-Latn-RS" sz="1600" b="1" dirty="0">
                <a:solidFill>
                  <a:srgbClr val="17324D"/>
                </a:solidFill>
              </a:rPr>
              <a:t>km</a:t>
            </a:r>
            <a:r>
              <a:rPr lang="sr-Cyrl-RS" sz="1600" b="1" dirty="0">
                <a:solidFill>
                  <a:srgbClr val="17324D"/>
                </a:solidFill>
              </a:rPr>
              <a:t>: 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42273-0EA6-539D-2B10-BBBD7050E9BD}"/>
              </a:ext>
            </a:extLst>
          </p:cNvPr>
          <p:cNvSpPr txBox="1"/>
          <p:nvPr/>
        </p:nvSpPr>
        <p:spPr>
          <a:xfrm>
            <a:off x="7365242" y="3764525"/>
            <a:ext cx="4308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Пад локацијског премијума</a:t>
            </a:r>
            <a:r>
              <a:rPr lang="sr-Cyrl-RS" sz="1600" dirty="0">
                <a:solidFill>
                  <a:srgbClr val="17324D"/>
                </a:solidFill>
              </a:rPr>
              <a:t> у односу на удаљеност од садржаја.</a:t>
            </a:r>
            <a:endParaRPr lang="en-US" sz="1600" dirty="0">
              <a:solidFill>
                <a:srgbClr val="17324D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04048-38B8-631C-5754-687F615E9F52}"/>
              </a:ext>
            </a:extLst>
          </p:cNvPr>
          <p:cNvSpPr txBox="1"/>
          <p:nvPr/>
        </p:nvSpPr>
        <p:spPr>
          <a:xfrm>
            <a:off x="7365242" y="4575591"/>
            <a:ext cx="4416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sr-Cyrl-RS" sz="1600" b="1" dirty="0">
                <a:solidFill>
                  <a:srgbClr val="17324D"/>
                </a:solidFill>
              </a:rPr>
              <a:t>Велики просторни обухват </a:t>
            </a:r>
            <a:r>
              <a:rPr lang="sr-Cyrl-RS" sz="1600" dirty="0">
                <a:solidFill>
                  <a:srgbClr val="17324D"/>
                </a:solidFill>
              </a:rPr>
              <a:t>(центра, школе, вртићи, установе културе, паркови).</a:t>
            </a:r>
            <a:endParaRPr lang="en-US" sz="1600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61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2" grpId="0"/>
      <p:bldP spid="14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41C7-7C12-687B-5DD3-E4AFA92A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4A649-7A8D-5B9B-95D6-ECF77B52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100DA9-EFD5-6A8F-542F-43E1A37D74E3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Интерактивна карта локацијског премијума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77E1A-DA4C-8761-ADCF-33D030F427C3}"/>
              </a:ext>
            </a:extLst>
          </p:cNvPr>
          <p:cNvSpPr txBox="1"/>
          <p:nvPr/>
        </p:nvSpPr>
        <p:spPr>
          <a:xfrm>
            <a:off x="333171" y="230921"/>
            <a:ext cx="3762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ЛОКАЦИЈСКИ ПРЕМИЈУМ</a:t>
            </a:r>
            <a:endParaRPr lang="ru-RU" sz="1600" b="1" spc="300" dirty="0">
              <a:solidFill>
                <a:srgbClr val="17324D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F71C86-63DE-D4A7-1F24-44EAC04A1AB4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4837075C-BA0A-609A-0C81-E399A92E8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516" y="1452930"/>
            <a:ext cx="5426000" cy="487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3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51055-4BAB-38D0-E8A9-99F1E8F3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9E224-1949-C034-ADF2-81CA30A4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>
                <a:solidFill>
                  <a:schemeClr val="bg1"/>
                </a:solidFill>
              </a:r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495DBA-6F8E-3459-B130-8BFFBB76F11F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chemeClr val="bg1"/>
                </a:solidFill>
                <a:ea typeface="Aptos Display" pitchFamily="34" charset="-122"/>
                <a:cs typeface="Aptos Display" pitchFamily="34" charset="-120"/>
              </a:rPr>
              <a:t>Кључни закључци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76E92-E2FC-C8B2-AB55-1D5AEA7FD6AE}"/>
              </a:ext>
            </a:extLst>
          </p:cNvPr>
          <p:cNvSpPr txBox="1"/>
          <p:nvPr/>
        </p:nvSpPr>
        <p:spPr>
          <a:xfrm>
            <a:off x="333171" y="230921"/>
            <a:ext cx="3762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chemeClr val="bg1"/>
                </a:solidFill>
              </a:rPr>
              <a:t>ЗАКЉУЧАК</a:t>
            </a:r>
            <a:endParaRPr lang="ru-RU" sz="1600" b="1" spc="3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8D938F-9EE2-79E8-184E-0912AA949AC6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5402B62-FEB7-C833-EE95-2F88276A6667}"/>
              </a:ext>
            </a:extLst>
          </p:cNvPr>
          <p:cNvSpPr/>
          <p:nvPr/>
        </p:nvSpPr>
        <p:spPr>
          <a:xfrm>
            <a:off x="984445" y="1726181"/>
            <a:ext cx="619503" cy="58620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>
                <a:solidFill>
                  <a:srgbClr val="17324D"/>
                </a:solidFill>
              </a:rPr>
              <a:t>1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44298-A826-25E0-1283-3373A2EB19FE}"/>
              </a:ext>
            </a:extLst>
          </p:cNvPr>
          <p:cNvSpPr txBox="1"/>
          <p:nvPr/>
        </p:nvSpPr>
        <p:spPr>
          <a:xfrm>
            <a:off x="1926244" y="1865395"/>
            <a:ext cx="9427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noProof="1">
                <a:solidFill>
                  <a:schemeClr val="bg1"/>
                </a:solidFill>
              </a:rPr>
              <a:t>Локација објашњава више варијације цене по m</a:t>
            </a:r>
            <a:r>
              <a:rPr lang="ru-RU" sz="1600" baseline="30000" noProof="1">
                <a:solidFill>
                  <a:schemeClr val="bg1"/>
                </a:solidFill>
              </a:rPr>
              <a:t>2</a:t>
            </a:r>
            <a:r>
              <a:rPr lang="ru-RU" sz="1600" noProof="1">
                <a:solidFill>
                  <a:schemeClr val="bg1"/>
                </a:solidFill>
              </a:rPr>
              <a:t> него сама структура стана.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8ED050-448D-60F7-2D88-08B3FE08A0EF}"/>
              </a:ext>
            </a:extLst>
          </p:cNvPr>
          <p:cNvSpPr/>
          <p:nvPr/>
        </p:nvSpPr>
        <p:spPr>
          <a:xfrm>
            <a:off x="984445" y="2595761"/>
            <a:ext cx="619503" cy="58620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>
                <a:solidFill>
                  <a:srgbClr val="17324D"/>
                </a:solidFill>
              </a:rPr>
              <a:t>2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C1E324-0F25-F25E-B231-6CCD0F225B01}"/>
              </a:ext>
            </a:extLst>
          </p:cNvPr>
          <p:cNvSpPr txBox="1"/>
          <p:nvPr/>
        </p:nvSpPr>
        <p:spPr>
          <a:xfrm>
            <a:off x="1926244" y="2734975"/>
            <a:ext cx="9427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noProof="1">
                <a:solidFill>
                  <a:schemeClr val="bg1"/>
                </a:solidFill>
              </a:rPr>
              <a:t>Комбиновани </a:t>
            </a:r>
            <a:r>
              <a:rPr lang="en-US" sz="1600" noProof="1">
                <a:solidFill>
                  <a:schemeClr val="bg1"/>
                </a:solidFill>
              </a:rPr>
              <a:t>XGBoost </a:t>
            </a:r>
            <a:r>
              <a:rPr lang="ru-RU" sz="1600" noProof="1">
                <a:solidFill>
                  <a:schemeClr val="bg1"/>
                </a:solidFill>
              </a:rPr>
              <a:t>је најбољи: </a:t>
            </a:r>
            <a:r>
              <a:rPr lang="en-US" sz="1600" noProof="1">
                <a:solidFill>
                  <a:schemeClr val="bg1"/>
                </a:solidFill>
              </a:rPr>
              <a:t>R² 0,617</a:t>
            </a:r>
            <a:r>
              <a:rPr lang="sr-Cyrl-RS" sz="1600" noProof="1">
                <a:solidFill>
                  <a:schemeClr val="bg1"/>
                </a:solidFill>
              </a:rPr>
              <a:t>,</a:t>
            </a:r>
            <a:r>
              <a:rPr lang="en-US" sz="1600" noProof="1">
                <a:solidFill>
                  <a:schemeClr val="bg1"/>
                </a:solidFill>
              </a:rPr>
              <a:t> RMSE 788 </a:t>
            </a:r>
            <a:r>
              <a:rPr lang="ru-RU" sz="1600" noProof="1">
                <a:solidFill>
                  <a:schemeClr val="bg1"/>
                </a:solidFill>
              </a:rPr>
              <a:t>и </a:t>
            </a:r>
            <a:r>
              <a:rPr lang="en-US" sz="1600" noProof="1">
                <a:solidFill>
                  <a:schemeClr val="bg1"/>
                </a:solidFill>
              </a:rPr>
              <a:t>MAE 555 €/</a:t>
            </a:r>
            <a:r>
              <a:rPr lang="ru-RU" sz="1600" noProof="1">
                <a:solidFill>
                  <a:schemeClr val="bg1"/>
                </a:solidFill>
              </a:rPr>
              <a:t>m</a:t>
            </a:r>
            <a:r>
              <a:rPr lang="ru-RU" sz="1600" baseline="30000" noProof="1">
                <a:solidFill>
                  <a:schemeClr val="bg1"/>
                </a:solidFill>
              </a:rPr>
              <a:t>2</a:t>
            </a:r>
            <a:r>
              <a:rPr lang="en-US" sz="1600" noProof="1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CADEA34-6CE0-A312-97F6-EFC0D5FDC9E9}"/>
              </a:ext>
            </a:extLst>
          </p:cNvPr>
          <p:cNvSpPr/>
          <p:nvPr/>
        </p:nvSpPr>
        <p:spPr>
          <a:xfrm>
            <a:off x="984445" y="3465341"/>
            <a:ext cx="619503" cy="58620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>
                <a:solidFill>
                  <a:srgbClr val="17324D"/>
                </a:solidFill>
              </a:rPr>
              <a:t>3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2C7AF0-ABF0-8570-9D18-F68EEDCF1498}"/>
              </a:ext>
            </a:extLst>
          </p:cNvPr>
          <p:cNvSpPr txBox="1"/>
          <p:nvPr/>
        </p:nvSpPr>
        <p:spPr>
          <a:xfrm>
            <a:off x="1926244" y="3604555"/>
            <a:ext cx="9427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noProof="1">
                <a:solidFill>
                  <a:schemeClr val="bg1"/>
                </a:solidFill>
              </a:rPr>
              <a:t>12 од 15 најважнијих променљивих су локацијски.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E091946-8BD6-DD4C-37D7-D743015F149F}"/>
              </a:ext>
            </a:extLst>
          </p:cNvPr>
          <p:cNvSpPr/>
          <p:nvPr/>
        </p:nvSpPr>
        <p:spPr>
          <a:xfrm>
            <a:off x="984445" y="4338187"/>
            <a:ext cx="619503" cy="58620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>
                <a:solidFill>
                  <a:srgbClr val="17324D"/>
                </a:solidFill>
              </a:rPr>
              <a:t>4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9D16A6-666E-0AE1-41C0-3A2C8BA11FC4}"/>
              </a:ext>
            </a:extLst>
          </p:cNvPr>
          <p:cNvSpPr txBox="1"/>
          <p:nvPr/>
        </p:nvSpPr>
        <p:spPr>
          <a:xfrm>
            <a:off x="1926244" y="4477401"/>
            <a:ext cx="9427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noProof="1">
                <a:solidFill>
                  <a:schemeClr val="bg1"/>
                </a:solidFill>
              </a:rPr>
              <a:t>Премијум се креће од +82,31% у центру до −62,71% на периферији и приградским општинама.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BD11EE-8B8E-FDA3-5E66-D19AEE363FEA}"/>
              </a:ext>
            </a:extLst>
          </p:cNvPr>
          <p:cNvSpPr/>
          <p:nvPr/>
        </p:nvSpPr>
        <p:spPr>
          <a:xfrm>
            <a:off x="984445" y="5211033"/>
            <a:ext cx="619503" cy="58620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sz="1400" b="1" dirty="0">
                <a:solidFill>
                  <a:srgbClr val="17324D"/>
                </a:solidFill>
              </a:rPr>
              <a:t>5</a:t>
            </a:r>
            <a:endParaRPr lang="en-US" sz="1400" b="1" dirty="0">
              <a:solidFill>
                <a:srgbClr val="17324D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C84B09-4D81-B88F-693F-68CF1CD6CA61}"/>
              </a:ext>
            </a:extLst>
          </p:cNvPr>
          <p:cNvSpPr txBox="1"/>
          <p:nvPr/>
        </p:nvSpPr>
        <p:spPr>
          <a:xfrm>
            <a:off x="1926244" y="5350247"/>
            <a:ext cx="9427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noProof="1">
                <a:solidFill>
                  <a:schemeClr val="bg1"/>
                </a:solidFill>
              </a:rPr>
              <a:t>Локацијски предиктори смањују, али не елиминишу просторну аутокорелацију резидуала.</a:t>
            </a:r>
          </a:p>
        </p:txBody>
      </p:sp>
    </p:spTree>
    <p:extLst>
      <p:ext uri="{BB962C8B-B14F-4D97-AF65-F5344CB8AC3E}">
        <p14:creationId xmlns:p14="http://schemas.microsoft.com/office/powerpoint/2010/main" val="148817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 animBg="1"/>
      <p:bldP spid="10" grpId="0"/>
      <p:bldP spid="30" grpId="0" animBg="1"/>
      <p:bldP spid="32" grpId="0"/>
      <p:bldP spid="34" grpId="0" animBg="1"/>
      <p:bldP spid="36" grpId="0"/>
      <p:bldP spid="38" grpId="0" animBg="1"/>
      <p:bldP spid="40" grpId="0"/>
      <p:bldP spid="42" grpId="0" animBg="1"/>
      <p:bldP spid="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8D45-7853-BC26-3893-6D848781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A7F24-3576-DED9-4B6C-6F487FE3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5F564C-AA9B-575B-1620-69EB909EB267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r-Cyrl-RS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Практична примена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E0D72-F918-EB80-C258-3FBFACB4A052}"/>
              </a:ext>
            </a:extLst>
          </p:cNvPr>
          <p:cNvSpPr txBox="1"/>
          <p:nvPr/>
        </p:nvSpPr>
        <p:spPr>
          <a:xfrm>
            <a:off x="333171" y="230921"/>
            <a:ext cx="3762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ЗАКЉУЧАК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E584DA-569A-BB64-F1CD-6442AE0A5BC5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235C12-C388-6DF5-E8FC-3A05A6935982}"/>
              </a:ext>
            </a:extLst>
          </p:cNvPr>
          <p:cNvSpPr/>
          <p:nvPr/>
        </p:nvSpPr>
        <p:spPr>
          <a:xfrm>
            <a:off x="786072" y="1644284"/>
            <a:ext cx="5032837" cy="1784716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Државне институције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објективнија и транспарентнија процена некретнина и одређивање пореза</a:t>
            </a:r>
            <a:endParaRPr lang="sr-Cyrl-RS" sz="1400" baseline="30000" noProof="1">
              <a:solidFill>
                <a:srgbClr val="17324D"/>
              </a:solidFill>
            </a:endParaRP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EE8654-8B20-BDC1-228C-BA65C8DB9254}"/>
              </a:ext>
            </a:extLst>
          </p:cNvPr>
          <p:cNvSpPr/>
          <p:nvPr/>
        </p:nvSpPr>
        <p:spPr>
          <a:xfrm>
            <a:off x="6320963" y="1644284"/>
            <a:ext cx="5032837" cy="1784716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Банке и осигурањавајуће куће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бржа контрола ризика приликом одобравања хипотекарних кредита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BF699DE-04A3-90D2-6536-F3711CF1102C}"/>
              </a:ext>
            </a:extLst>
          </p:cNvPr>
          <p:cNvSpPr/>
          <p:nvPr/>
        </p:nvSpPr>
        <p:spPr>
          <a:xfrm>
            <a:off x="3577763" y="3789231"/>
            <a:ext cx="5032837" cy="1784716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sr-Cyrl-RS" sz="16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Интернет портали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аутоматска процена тржишне вредности за купце и продавце</a:t>
            </a:r>
          </a:p>
          <a:p>
            <a:endParaRPr lang="en-US" sz="1600" b="1" dirty="0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86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 animBg="1"/>
      <p:bldP spid="12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9808-05CA-B58B-14A4-D0857E32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B056E-33C6-F28B-D808-9C9627C7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813B0-3C8B-423C-B9E6-2F7FFBB1FD29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120339-9CC2-D319-3ECE-76A4DC82DF74}"/>
              </a:ext>
            </a:extLst>
          </p:cNvPr>
          <p:cNvSpPr txBox="1">
            <a:spLocks/>
          </p:cNvSpPr>
          <p:nvPr/>
        </p:nvSpPr>
        <p:spPr>
          <a:xfrm>
            <a:off x="322633" y="702712"/>
            <a:ext cx="9833044" cy="586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noProof="1">
                <a:solidFill>
                  <a:srgbClr val="17324D"/>
                </a:solidFill>
                <a:ea typeface="Aptos Display" pitchFamily="34" charset="-122"/>
                <a:cs typeface="Aptos Display" pitchFamily="34" charset="-120"/>
              </a:rPr>
              <a:t>Ограничења и правци даљег рада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97502-7A02-2C21-51EF-6A548FAAEA5D}"/>
              </a:ext>
            </a:extLst>
          </p:cNvPr>
          <p:cNvSpPr txBox="1"/>
          <p:nvPr/>
        </p:nvSpPr>
        <p:spPr>
          <a:xfrm>
            <a:off x="333171" y="230921"/>
            <a:ext cx="3762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300" dirty="0">
                <a:solidFill>
                  <a:srgbClr val="17324D"/>
                </a:solidFill>
              </a:rPr>
              <a:t>ЗАКЉУЧАК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28ADD-6F49-B31C-E64B-424B89FE6337}"/>
              </a:ext>
            </a:extLst>
          </p:cNvPr>
          <p:cNvCxnSpPr>
            <a:cxnSpLocks/>
          </p:cNvCxnSpPr>
          <p:nvPr/>
        </p:nvCxnSpPr>
        <p:spPr>
          <a:xfrm>
            <a:off x="410183" y="1284053"/>
            <a:ext cx="1137163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3AFF6D-5C81-F5F3-575C-306A62360850}"/>
              </a:ext>
            </a:extLst>
          </p:cNvPr>
          <p:cNvSpPr/>
          <p:nvPr/>
        </p:nvSpPr>
        <p:spPr>
          <a:xfrm>
            <a:off x="786072" y="1644284"/>
            <a:ext cx="10488285" cy="758445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Оглашене, нереализоване цене</a:t>
            </a:r>
            <a:endParaRPr lang="sr-Cyrl-RS" sz="1400" noProof="1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користити регистар купопродајних цена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CF95DC-2BE1-FB73-0847-2094B663D98B}"/>
              </a:ext>
            </a:extLst>
          </p:cNvPr>
          <p:cNvSpPr/>
          <p:nvPr/>
        </p:nvSpPr>
        <p:spPr>
          <a:xfrm>
            <a:off x="786071" y="2574897"/>
            <a:ext cx="10488285" cy="758445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Геокодирање без кућних бројева</a:t>
            </a:r>
            <a:endParaRPr lang="sr-Cyrl-RS" sz="1400" noProof="1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прикупити комплетније адресе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E4425E-5DCF-B2A2-FB2F-36F13211554D}"/>
              </a:ext>
            </a:extLst>
          </p:cNvPr>
          <p:cNvSpPr/>
          <p:nvPr/>
        </p:nvSpPr>
        <p:spPr>
          <a:xfrm>
            <a:off x="786071" y="3505510"/>
            <a:ext cx="10488285" cy="758445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Еуклидска растојања</a:t>
            </a:r>
            <a:endParaRPr lang="sr-Cyrl-RS" sz="1400" noProof="1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увести мрежна растојања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7C734B5-60F8-FCA8-E089-832C915D9EF9}"/>
              </a:ext>
            </a:extLst>
          </p:cNvPr>
          <p:cNvSpPr/>
          <p:nvPr/>
        </p:nvSpPr>
        <p:spPr>
          <a:xfrm>
            <a:off x="786070" y="4433190"/>
            <a:ext cx="10488285" cy="758445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Недостају квалитативни фактори</a:t>
            </a:r>
            <a:endParaRPr lang="sr-Cyrl-RS" sz="1400" noProof="1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бука, оријентација, поглед, година изградње, додатни просторни предиктори</a:t>
            </a:r>
            <a:endParaRPr lang="sr-Cyrl-RS" sz="1400" noProof="1">
              <a:solidFill>
                <a:srgbClr val="17324D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551F98-0DF3-DB73-BAD8-260CCB8137DA}"/>
              </a:ext>
            </a:extLst>
          </p:cNvPr>
          <p:cNvSpPr/>
          <p:nvPr/>
        </p:nvSpPr>
        <p:spPr>
          <a:xfrm>
            <a:off x="786070" y="5360870"/>
            <a:ext cx="10488285" cy="758445"/>
          </a:xfrm>
          <a:prstGeom prst="roundRect">
            <a:avLst>
              <a:gd name="adj" fmla="val 4989"/>
            </a:avLst>
          </a:prstGeom>
          <a:solidFill>
            <a:srgbClr val="EFF4F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b="1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Ограничен временски период и ажурност</a:t>
            </a:r>
            <a:endParaRPr lang="sr-Cyrl-RS" sz="1400" noProof="1">
              <a:solidFill>
                <a:srgbClr val="17324D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sr-Cyrl-RS" sz="1400" noProof="1">
                <a:solidFill>
                  <a:srgbClr val="17324D"/>
                </a:solidFill>
                <a:ea typeface="Aptos" pitchFamily="34" charset="-122"/>
                <a:cs typeface="Aptos" pitchFamily="34" charset="-120"/>
              </a:rPr>
              <a:t>периодично поновно моделовање</a:t>
            </a:r>
            <a:endParaRPr lang="sr-Cyrl-RS" sz="1400" noProof="1">
              <a:solidFill>
                <a:srgbClr val="1732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03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13D7C-F292-9412-696A-BC2C47E3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4744CE-E005-5D47-5372-878403D212AC}"/>
              </a:ext>
            </a:extLst>
          </p:cNvPr>
          <p:cNvSpPr txBox="1"/>
          <p:nvPr/>
        </p:nvSpPr>
        <p:spPr>
          <a:xfrm>
            <a:off x="3046269" y="2782669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r-Cyrl-RS" sz="3600" b="1" dirty="0">
                <a:solidFill>
                  <a:schemeClr val="bg1"/>
                </a:solidFill>
              </a:rPr>
              <a:t>Хвала на пажњи!</a:t>
            </a:r>
          </a:p>
        </p:txBody>
      </p:sp>
    </p:spTree>
    <p:extLst>
      <p:ext uri="{BB962C8B-B14F-4D97-AF65-F5344CB8AC3E}">
        <p14:creationId xmlns:p14="http://schemas.microsoft.com/office/powerpoint/2010/main" val="144400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1809</Words>
  <Application>Microsoft Office PowerPoint</Application>
  <PresentationFormat>Widescreen</PresentationFormat>
  <Paragraphs>508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Djordje</dc:creator>
  <cp:lastModifiedBy>Djordje</cp:lastModifiedBy>
  <cp:revision>216</cp:revision>
  <dcterms:created xsi:type="dcterms:W3CDTF">2026-10-15T18:40:52Z</dcterms:created>
  <dcterms:modified xsi:type="dcterms:W3CDTF">2026-10-22T08:41:56Z</dcterms:modified>
</cp:coreProperties>
</file>